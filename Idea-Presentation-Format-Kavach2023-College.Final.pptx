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7" r:id="rId1"/>
  </p:sldMasterIdLst>
  <p:notesMasterIdLst>
    <p:notesMasterId r:id="rId6"/>
  </p:notesMasterIdLst>
  <p:sldIdLst>
    <p:sldId id="256" r:id="rId2"/>
    <p:sldId id="257" r:id="rId3"/>
    <p:sldId id="258" r:id="rId4"/>
    <p:sldId id="259" r:id="rId5"/>
  </p:sldIdLst>
  <p:sldSz cx="12192000" cy="6858000"/>
  <p:notesSz cx="6858000" cy="9144000"/>
  <p:embeddedFontLst>
    <p:embeddedFont>
      <p:font typeface="Franklin Gothic" panose="020B0604020202020204" charset="0"/>
      <p:bold r:id="rId7"/>
    </p:embeddedFont>
    <p:embeddedFont>
      <p:font typeface="Calibri Light" panose="020F0302020204030204" pitchFamily="34" charset="0"/>
      <p:regular r:id="rId8"/>
      <p:italic r:id="rId9"/>
    </p:embeddedFont>
    <p:embeddedFont>
      <p:font typeface="Libre Franklin" panose="020B0604020202020204" charset="0"/>
      <p:regular r:id="rId10"/>
      <p:bold r:id="rId11"/>
      <p:italic r:id="rId12"/>
      <p:boldItalic r:id="rId13"/>
    </p:embeddedFont>
    <p:embeddedFont>
      <p:font typeface="Calibri" panose="020F0502020204030204"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i1sBDdHb2XsYteFNPHBFMUQvu/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varScale="1">
        <p:scale>
          <a:sx n="69" d="100"/>
          <a:sy n="69" d="100"/>
        </p:scale>
        <p:origin x="756"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23" Type="http://schemas.openxmlformats.org/officeDocument/2006/relationships/tableStyles" Target="tableStyles.xml"/><Relationship Id="rId10" Type="http://schemas.openxmlformats.org/officeDocument/2006/relationships/font" Target="fonts/font4.fntdata"/><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066306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6220741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63663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514576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6221014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2658269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1495130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530470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6203710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2508731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9045763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lt1"/>
        </a:solidFill>
        <a:effectLst/>
      </p:bgPr>
    </p:bg>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367054" y="2116182"/>
            <a:ext cx="5491571" cy="1514019"/>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6000"/>
              <a:buFont typeface="Franklin Gothic"/>
              <a:buNone/>
              <a:defRPr sz="60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7"/>
          <p:cNvSpPr txBox="1">
            <a:spLocks noGrp="1"/>
          </p:cNvSpPr>
          <p:nvPr>
            <p:ph type="body" idx="1"/>
          </p:nvPr>
        </p:nvSpPr>
        <p:spPr>
          <a:xfrm>
            <a:off x="6367055" y="4549553"/>
            <a:ext cx="5491570" cy="9533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extLst>
      <p:ext uri="{BB962C8B-B14F-4D97-AF65-F5344CB8AC3E}">
        <p14:creationId xmlns:p14="http://schemas.microsoft.com/office/powerpoint/2010/main" val="3673207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3"/>
        <p:cNvGrpSpPr/>
        <p:nvPr/>
      </p:nvGrpSpPr>
      <p:grpSpPr>
        <a:xfrm>
          <a:off x="0" y="0"/>
          <a:ext cx="0" cy="0"/>
          <a:chOff x="0" y="0"/>
          <a:chExt cx="0" cy="0"/>
        </a:xfrm>
      </p:grpSpPr>
      <p:sp>
        <p:nvSpPr>
          <p:cNvPr id="28" name="Google Shape;28;p8"/>
          <p:cNvSpPr>
            <a:spLocks noGrp="1"/>
          </p:cNvSpPr>
          <p:nvPr>
            <p:ph type="pic" idx="2"/>
          </p:nvPr>
        </p:nvSpPr>
        <p:spPr>
          <a:xfrm>
            <a:off x="6096000" y="-22543"/>
            <a:ext cx="6096000" cy="6903086"/>
          </a:xfrm>
          <a:prstGeom prst="rect">
            <a:avLst/>
          </a:prstGeom>
          <a:noFill/>
          <a:ln>
            <a:noFill/>
          </a:ln>
        </p:spPr>
      </p:sp>
      <p:sp>
        <p:nvSpPr>
          <p:cNvPr id="29" name="Google Shape;29;p8"/>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952499" y="2289363"/>
            <a:ext cx="4572001" cy="27952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2" name="Google Shape;32;p8"/>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8"/>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latin typeface="Libre Franklin"/>
              <a:ea typeface="Libre Franklin"/>
              <a:cs typeface="Libre Franklin"/>
              <a:sym typeface="Libre Franklin"/>
            </a:endParaRPr>
          </a:p>
        </p:txBody>
      </p:sp>
    </p:spTree>
    <p:extLst>
      <p:ext uri="{BB962C8B-B14F-4D97-AF65-F5344CB8AC3E}">
        <p14:creationId xmlns:p14="http://schemas.microsoft.com/office/powerpoint/2010/main" val="2976877563"/>
      </p:ext>
    </p:extLst>
  </p:cSld>
  <p:clrMapOvr>
    <a:masterClrMapping/>
  </p:clrMapOvr>
  <p:extLst mod="1">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mmary ">
  <p:cSld name="Summary ">
    <p:bg>
      <p:bgPr>
        <a:solidFill>
          <a:schemeClr val="lt1"/>
        </a:solidFill>
        <a:effectLst/>
      </p:bgPr>
    </p:bg>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952500"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9"/>
          <p:cNvSpPr txBox="1">
            <a:spLocks noGrp="1"/>
          </p:cNvSpPr>
          <p:nvPr>
            <p:ph type="body" idx="2"/>
          </p:nvPr>
        </p:nvSpPr>
        <p:spPr>
          <a:xfrm>
            <a:off x="952500"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4" name="Google Shape;44;p9"/>
          <p:cNvSpPr txBox="1">
            <a:spLocks noGrp="1"/>
          </p:cNvSpPr>
          <p:nvPr>
            <p:ph type="body" idx="3"/>
          </p:nvPr>
        </p:nvSpPr>
        <p:spPr>
          <a:xfrm>
            <a:off x="953655" y="3841846"/>
            <a:ext cx="4838700" cy="63675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9"/>
          <p:cNvSpPr txBox="1">
            <a:spLocks noGrp="1"/>
          </p:cNvSpPr>
          <p:nvPr>
            <p:ph type="body" idx="4"/>
          </p:nvPr>
        </p:nvSpPr>
        <p:spPr>
          <a:xfrm>
            <a:off x="953655"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9"/>
          <p:cNvSpPr txBox="1">
            <a:spLocks noGrp="1"/>
          </p:cNvSpPr>
          <p:nvPr>
            <p:ph type="body" idx="5"/>
          </p:nvPr>
        </p:nvSpPr>
        <p:spPr>
          <a:xfrm>
            <a:off x="952500" y="5017901"/>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9"/>
          <p:cNvSpPr txBox="1">
            <a:spLocks noGrp="1"/>
          </p:cNvSpPr>
          <p:nvPr>
            <p:ph type="body" idx="6"/>
          </p:nvPr>
        </p:nvSpPr>
        <p:spPr>
          <a:xfrm>
            <a:off x="952500" y="4646997"/>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9"/>
          <p:cNvSpPr txBox="1">
            <a:spLocks noGrp="1"/>
          </p:cNvSpPr>
          <p:nvPr>
            <p:ph type="body" idx="7"/>
          </p:nvPr>
        </p:nvSpPr>
        <p:spPr>
          <a:xfrm>
            <a:off x="6399647"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9"/>
          <p:cNvSpPr txBox="1">
            <a:spLocks noGrp="1"/>
          </p:cNvSpPr>
          <p:nvPr>
            <p:ph type="body" idx="8"/>
          </p:nvPr>
        </p:nvSpPr>
        <p:spPr>
          <a:xfrm>
            <a:off x="6399647"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 name="Google Shape;50;p9"/>
          <p:cNvSpPr txBox="1">
            <a:spLocks noGrp="1"/>
          </p:cNvSpPr>
          <p:nvPr>
            <p:ph type="body" idx="9"/>
          </p:nvPr>
        </p:nvSpPr>
        <p:spPr>
          <a:xfrm>
            <a:off x="6399647" y="3841846"/>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 name="Google Shape;51;p9"/>
          <p:cNvSpPr txBox="1">
            <a:spLocks noGrp="1"/>
          </p:cNvSpPr>
          <p:nvPr>
            <p:ph type="body" idx="13"/>
          </p:nvPr>
        </p:nvSpPr>
        <p:spPr>
          <a:xfrm>
            <a:off x="6399647"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2" name="Google Shape;52;p9"/>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9"/>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latin typeface="Libre Franklin"/>
              <a:ea typeface="Libre Franklin"/>
              <a:cs typeface="Libre Franklin"/>
              <a:sym typeface="Libre Franklin"/>
            </a:endParaRPr>
          </a:p>
        </p:txBody>
      </p:sp>
    </p:spTree>
    <p:extLst>
      <p:ext uri="{BB962C8B-B14F-4D97-AF65-F5344CB8AC3E}">
        <p14:creationId xmlns:p14="http://schemas.microsoft.com/office/powerpoint/2010/main" val="2722447465"/>
      </p:ext>
    </p:extLst>
  </p:cSld>
  <p:clrMapOvr>
    <a:masterClrMapping/>
  </p:clrMapOvr>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0451981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
          <p:cNvSpPr txBox="1">
            <a:spLocks noGrp="1"/>
          </p:cNvSpPr>
          <p:nvPr>
            <p:ph type="ctrTitle"/>
          </p:nvPr>
        </p:nvSpPr>
        <p:spPr>
          <a:xfrm>
            <a:off x="388322" y="423933"/>
            <a:ext cx="11041678" cy="115168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600"/>
              <a:buFont typeface="Franklin Gothic"/>
              <a:buNone/>
            </a:pPr>
            <a:r>
              <a:rPr lang="en-US" sz="3600" b="1" dirty="0"/>
              <a:t>Basic Details of the Team and Problem Statement</a:t>
            </a:r>
            <a:endParaRPr dirty="0"/>
          </a:p>
        </p:txBody>
      </p:sp>
      <p:sp>
        <p:nvSpPr>
          <p:cNvPr id="211" name="Google Shape;211;p1"/>
          <p:cNvSpPr txBox="1">
            <a:spLocks noGrp="1"/>
          </p:cNvSpPr>
          <p:nvPr>
            <p:ph type="body" idx="1"/>
          </p:nvPr>
        </p:nvSpPr>
        <p:spPr>
          <a:xfrm>
            <a:off x="388322" y="1103970"/>
            <a:ext cx="11481124" cy="4861932"/>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Clr>
                <a:schemeClr val="lt2"/>
              </a:buClr>
              <a:buSzPts val="1800"/>
              <a:buNone/>
            </a:pPr>
            <a:r>
              <a:rPr lang="en-US" b="1" dirty="0" smtClean="0">
                <a:solidFill>
                  <a:schemeClr val="tx1"/>
                </a:solidFill>
                <a:latin typeface="Franklin Gothic"/>
                <a:ea typeface="Franklin Gothic"/>
                <a:cs typeface="Franklin Gothic"/>
                <a:sym typeface="Franklin Gothic"/>
              </a:rPr>
              <a:t>PSID: KVH-012</a:t>
            </a:r>
            <a:endParaRPr b="1" dirty="0" smtClean="0">
              <a:solidFill>
                <a:schemeClr val="tx1"/>
              </a:solidFill>
            </a:endParaRPr>
          </a:p>
          <a:p>
            <a:pPr marL="0" lvl="0" indent="0" algn="l" rtl="0">
              <a:lnSpc>
                <a:spcPct val="90000"/>
              </a:lnSpc>
              <a:spcBef>
                <a:spcPts val="1000"/>
              </a:spcBef>
              <a:spcAft>
                <a:spcPts val="0"/>
              </a:spcAft>
              <a:buClr>
                <a:schemeClr val="lt2"/>
              </a:buClr>
              <a:buSzPts val="1800"/>
              <a:buNone/>
            </a:pPr>
            <a:r>
              <a:rPr lang="en-US" b="1" dirty="0" smtClean="0">
                <a:solidFill>
                  <a:schemeClr val="tx1"/>
                </a:solidFill>
                <a:latin typeface="Franklin Gothic"/>
                <a:ea typeface="Franklin Gothic"/>
                <a:cs typeface="Franklin Gothic"/>
                <a:sym typeface="Franklin Gothic"/>
              </a:rPr>
              <a:t>   </a:t>
            </a:r>
            <a:br>
              <a:rPr lang="en-US" b="1" dirty="0" smtClean="0">
                <a:solidFill>
                  <a:schemeClr val="tx1"/>
                </a:solidFill>
                <a:latin typeface="Franklin Gothic"/>
                <a:ea typeface="Franklin Gothic"/>
                <a:cs typeface="Franklin Gothic"/>
                <a:sym typeface="Franklin Gothic"/>
              </a:rPr>
            </a:br>
            <a:r>
              <a:rPr lang="en-US" b="1" dirty="0" smtClean="0">
                <a:solidFill>
                  <a:schemeClr val="tx1"/>
                </a:solidFill>
                <a:latin typeface="Franklin Gothic"/>
                <a:ea typeface="Franklin Gothic"/>
                <a:cs typeface="Franklin Gothic"/>
                <a:sym typeface="Franklin Gothic"/>
              </a:rPr>
              <a:t>Problem Statement Title: FUND TRAIL ANALYSIS</a:t>
            </a:r>
            <a:endParaRPr b="1" dirty="0" smtClean="0">
              <a:solidFill>
                <a:schemeClr val="tx1"/>
              </a:solidFill>
            </a:endParaRPr>
          </a:p>
          <a:p>
            <a:pPr marL="0" lvl="0" indent="0" algn="l" rtl="0">
              <a:lnSpc>
                <a:spcPct val="90000"/>
              </a:lnSpc>
              <a:spcBef>
                <a:spcPts val="1000"/>
              </a:spcBef>
              <a:spcAft>
                <a:spcPts val="0"/>
              </a:spcAft>
              <a:buClr>
                <a:schemeClr val="lt2"/>
              </a:buClr>
              <a:buSzPts val="1800"/>
              <a:buNone/>
            </a:pPr>
            <a:r>
              <a:rPr lang="en-US" b="1" dirty="0">
                <a:solidFill>
                  <a:schemeClr val="tx1"/>
                </a:solidFill>
                <a:latin typeface="Franklin Gothic"/>
                <a:ea typeface="Franklin Gothic"/>
                <a:cs typeface="Franklin Gothic"/>
                <a:sym typeface="Franklin Gothic"/>
              </a:rPr>
              <a:t/>
            </a:r>
            <a:br>
              <a:rPr lang="en-US" b="1" dirty="0">
                <a:solidFill>
                  <a:schemeClr val="tx1"/>
                </a:solidFill>
                <a:latin typeface="Franklin Gothic"/>
                <a:ea typeface="Franklin Gothic"/>
                <a:cs typeface="Franklin Gothic"/>
                <a:sym typeface="Franklin Gothic"/>
              </a:rPr>
            </a:br>
            <a:r>
              <a:rPr lang="en-US" b="1" dirty="0">
                <a:solidFill>
                  <a:schemeClr val="tx1"/>
                </a:solidFill>
                <a:latin typeface="Franklin Gothic"/>
                <a:ea typeface="Franklin Gothic"/>
                <a:cs typeface="Franklin Gothic"/>
                <a:sym typeface="Franklin Gothic"/>
              </a:rPr>
              <a:t>Team Name</a:t>
            </a:r>
            <a:r>
              <a:rPr lang="en-US" b="1" dirty="0" smtClean="0">
                <a:solidFill>
                  <a:schemeClr val="tx1"/>
                </a:solidFill>
                <a:latin typeface="Franklin Gothic"/>
                <a:ea typeface="Franklin Gothic"/>
                <a:cs typeface="Franklin Gothic"/>
                <a:sym typeface="Franklin Gothic"/>
              </a:rPr>
              <a:t>: KAVACH CUSTODIANS</a:t>
            </a:r>
            <a:endParaRPr b="1" dirty="0">
              <a:solidFill>
                <a:schemeClr val="tx1"/>
              </a:solidFill>
            </a:endParaRPr>
          </a:p>
          <a:p>
            <a:pPr marL="0" lvl="0" indent="0" algn="l" rtl="0">
              <a:lnSpc>
                <a:spcPct val="90000"/>
              </a:lnSpc>
              <a:spcBef>
                <a:spcPts val="1000"/>
              </a:spcBef>
              <a:spcAft>
                <a:spcPts val="0"/>
              </a:spcAft>
              <a:buClr>
                <a:schemeClr val="lt2"/>
              </a:buClr>
              <a:buSzPts val="1800"/>
              <a:buNone/>
            </a:pPr>
            <a:r>
              <a:rPr lang="en-US" b="1" dirty="0">
                <a:solidFill>
                  <a:schemeClr val="tx1"/>
                </a:solidFill>
                <a:latin typeface="Franklin Gothic"/>
                <a:ea typeface="Franklin Gothic"/>
                <a:cs typeface="Franklin Gothic"/>
                <a:sym typeface="Franklin Gothic"/>
              </a:rPr>
              <a:t/>
            </a:r>
            <a:br>
              <a:rPr lang="en-US" b="1" dirty="0">
                <a:solidFill>
                  <a:schemeClr val="tx1"/>
                </a:solidFill>
                <a:latin typeface="Franklin Gothic"/>
                <a:ea typeface="Franklin Gothic"/>
                <a:cs typeface="Franklin Gothic"/>
                <a:sym typeface="Franklin Gothic"/>
              </a:rPr>
            </a:br>
            <a:r>
              <a:rPr lang="en-US" b="1" dirty="0">
                <a:solidFill>
                  <a:schemeClr val="tx1"/>
                </a:solidFill>
                <a:latin typeface="Franklin Gothic"/>
                <a:ea typeface="Franklin Gothic"/>
                <a:cs typeface="Franklin Gothic"/>
                <a:sym typeface="Franklin Gothic"/>
              </a:rPr>
              <a:t>Team Leader Name</a:t>
            </a:r>
            <a:r>
              <a:rPr lang="en-US" b="1" dirty="0" smtClean="0">
                <a:solidFill>
                  <a:schemeClr val="tx1"/>
                </a:solidFill>
                <a:latin typeface="Franklin Gothic"/>
                <a:ea typeface="Franklin Gothic"/>
                <a:cs typeface="Franklin Gothic"/>
                <a:sym typeface="Franklin Gothic"/>
              </a:rPr>
              <a:t>: NIDHI SINHA</a:t>
            </a:r>
            <a:endParaRPr b="1" dirty="0">
              <a:solidFill>
                <a:schemeClr val="tx1"/>
              </a:solidFill>
            </a:endParaRPr>
          </a:p>
          <a:p>
            <a:pPr marL="0" lvl="0" indent="0" algn="l" rtl="0">
              <a:lnSpc>
                <a:spcPct val="90000"/>
              </a:lnSpc>
              <a:spcBef>
                <a:spcPts val="1000"/>
              </a:spcBef>
              <a:spcAft>
                <a:spcPts val="0"/>
              </a:spcAft>
              <a:buClr>
                <a:schemeClr val="lt2"/>
              </a:buClr>
              <a:buSzPts val="1800"/>
              <a:buNone/>
            </a:pPr>
            <a:r>
              <a:rPr lang="en-US" b="1" dirty="0">
                <a:solidFill>
                  <a:schemeClr val="tx1"/>
                </a:solidFill>
                <a:latin typeface="Franklin Gothic"/>
                <a:ea typeface="Franklin Gothic"/>
                <a:cs typeface="Franklin Gothic"/>
                <a:sym typeface="Franklin Gothic"/>
              </a:rPr>
              <a:t/>
            </a:r>
            <a:br>
              <a:rPr lang="en-US" b="1" dirty="0">
                <a:solidFill>
                  <a:schemeClr val="tx1"/>
                </a:solidFill>
                <a:latin typeface="Franklin Gothic"/>
                <a:ea typeface="Franklin Gothic"/>
                <a:cs typeface="Franklin Gothic"/>
                <a:sym typeface="Franklin Gothic"/>
              </a:rPr>
            </a:br>
            <a:r>
              <a:rPr lang="en-US" b="1" dirty="0">
                <a:solidFill>
                  <a:schemeClr val="tx1"/>
                </a:solidFill>
                <a:latin typeface="Franklin Gothic"/>
                <a:ea typeface="Franklin Gothic"/>
                <a:cs typeface="Franklin Gothic"/>
                <a:sym typeface="Franklin Gothic"/>
              </a:rPr>
              <a:t>Institute Code (AISHE):</a:t>
            </a:r>
            <a:endParaRPr b="1" dirty="0">
              <a:solidFill>
                <a:schemeClr val="tx1"/>
              </a:solidFill>
            </a:endParaRPr>
          </a:p>
          <a:p>
            <a:pPr marL="0" lvl="0" indent="0" algn="l" rtl="0">
              <a:lnSpc>
                <a:spcPct val="90000"/>
              </a:lnSpc>
              <a:spcBef>
                <a:spcPts val="1000"/>
              </a:spcBef>
              <a:spcAft>
                <a:spcPts val="0"/>
              </a:spcAft>
              <a:buClr>
                <a:schemeClr val="lt2"/>
              </a:buClr>
              <a:buSzPts val="1800"/>
              <a:buNone/>
            </a:pPr>
            <a:r>
              <a:rPr lang="en-US" b="1" dirty="0">
                <a:solidFill>
                  <a:schemeClr val="tx1"/>
                </a:solidFill>
                <a:latin typeface="Franklin Gothic"/>
                <a:ea typeface="Franklin Gothic"/>
                <a:cs typeface="Franklin Gothic"/>
                <a:sym typeface="Franklin Gothic"/>
              </a:rPr>
              <a:t/>
            </a:r>
            <a:br>
              <a:rPr lang="en-US" b="1" dirty="0">
                <a:solidFill>
                  <a:schemeClr val="tx1"/>
                </a:solidFill>
                <a:latin typeface="Franklin Gothic"/>
                <a:ea typeface="Franklin Gothic"/>
                <a:cs typeface="Franklin Gothic"/>
                <a:sym typeface="Franklin Gothic"/>
              </a:rPr>
            </a:br>
            <a:r>
              <a:rPr lang="en-US" b="1" dirty="0">
                <a:solidFill>
                  <a:schemeClr val="tx1"/>
                </a:solidFill>
                <a:latin typeface="Franklin Gothic"/>
                <a:ea typeface="Franklin Gothic"/>
                <a:cs typeface="Franklin Gothic"/>
                <a:sym typeface="Franklin Gothic"/>
              </a:rPr>
              <a:t>Institute Name</a:t>
            </a:r>
            <a:r>
              <a:rPr lang="en-US" b="1" dirty="0" smtClean="0">
                <a:solidFill>
                  <a:schemeClr val="tx1"/>
                </a:solidFill>
                <a:latin typeface="Franklin Gothic"/>
                <a:ea typeface="Franklin Gothic"/>
                <a:cs typeface="Franklin Gothic"/>
                <a:sym typeface="Franklin Gothic"/>
              </a:rPr>
              <a:t>: DON BOSCO INSTITUTE OF TECHNOLOGY</a:t>
            </a:r>
            <a:endParaRPr b="1" dirty="0">
              <a:solidFill>
                <a:schemeClr val="tx1"/>
              </a:solidFill>
            </a:endParaRPr>
          </a:p>
          <a:p>
            <a:pPr marL="0" lvl="0" indent="0" algn="l" rtl="0">
              <a:lnSpc>
                <a:spcPct val="90000"/>
              </a:lnSpc>
              <a:spcBef>
                <a:spcPts val="1000"/>
              </a:spcBef>
              <a:spcAft>
                <a:spcPts val="0"/>
              </a:spcAft>
              <a:buClr>
                <a:schemeClr val="lt2"/>
              </a:buClr>
              <a:buSzPts val="1800"/>
              <a:buNone/>
            </a:pPr>
            <a:endParaRPr b="1" dirty="0">
              <a:solidFill>
                <a:schemeClr val="tx1"/>
              </a:solidFill>
              <a:latin typeface="Franklin Gothic"/>
              <a:ea typeface="Franklin Gothic"/>
              <a:cs typeface="Franklin Gothic"/>
              <a:sym typeface="Franklin Gothic"/>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 name="Picture Placeholder 1"/>
          <p:cNvPicPr>
            <a:picLocks noGrp="1" noChangeAspect="1"/>
          </p:cNvPicPr>
          <p:nvPr>
            <p:ph type="pic" idx="2"/>
          </p:nvPr>
        </p:nvPicPr>
        <p:blipFill>
          <a:blip r:embed="rId3">
            <a:extLst>
              <a:ext uri="{28A0092B-C50C-407E-A947-70E740481C1C}">
                <a14:useLocalDpi xmlns:a14="http://schemas.microsoft.com/office/drawing/2010/main" val="0"/>
              </a:ext>
            </a:extLst>
          </a:blip>
          <a:srcRect l="1286" r="1286"/>
          <a:stretch>
            <a:fillRect/>
          </a:stretch>
        </p:blipFill>
        <p:spPr>
          <a:xfrm>
            <a:off x="7378576" y="1"/>
            <a:ext cx="4808269" cy="3833752"/>
          </a:xfrm>
          <a:prstGeom prst="rect">
            <a:avLst/>
          </a:prstGeom>
          <a:noFill/>
          <a:ln>
            <a:noFill/>
          </a:ln>
        </p:spPr>
      </p:pic>
      <p:sp>
        <p:nvSpPr>
          <p:cNvPr id="217" name="Google Shape;217;p2"/>
          <p:cNvSpPr txBox="1">
            <a:spLocks noGrp="1"/>
          </p:cNvSpPr>
          <p:nvPr>
            <p:ph type="title"/>
          </p:nvPr>
        </p:nvSpPr>
        <p:spPr>
          <a:xfrm>
            <a:off x="94228" y="144261"/>
            <a:ext cx="5534431"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dirty="0"/>
              <a:t>Idea/Approach Details</a:t>
            </a:r>
            <a:endParaRPr dirty="0"/>
          </a:p>
        </p:txBody>
      </p:sp>
      <p:sp>
        <p:nvSpPr>
          <p:cNvPr id="218" name="Google Shape;218;p2"/>
          <p:cNvSpPr txBox="1">
            <a:spLocks noGrp="1"/>
          </p:cNvSpPr>
          <p:nvPr>
            <p:ph type="body" idx="1"/>
          </p:nvPr>
        </p:nvSpPr>
        <p:spPr>
          <a:xfrm>
            <a:off x="94228" y="755124"/>
            <a:ext cx="7165215" cy="5991002"/>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lnSpc>
                <a:spcPct val="100000"/>
              </a:lnSpc>
              <a:spcBef>
                <a:spcPts val="0"/>
              </a:spcBef>
              <a:spcAft>
                <a:spcPts val="0"/>
              </a:spcAft>
              <a:buClr>
                <a:schemeClr val="lt2"/>
              </a:buClr>
              <a:buSzPts val="1800"/>
              <a:buNone/>
            </a:pPr>
            <a:r>
              <a:rPr lang="en-US" sz="1800" dirty="0">
                <a:solidFill>
                  <a:schemeClr val="tx1"/>
                </a:solidFill>
                <a:latin typeface="Franklin Gothic"/>
                <a:ea typeface="Franklin Gothic"/>
                <a:cs typeface="Franklin Gothic"/>
                <a:sym typeface="Franklin Gothic"/>
              </a:rPr>
              <a:t>Describe your idea/Solution/Prototype here:</a:t>
            </a:r>
            <a:endParaRPr dirty="0">
              <a:solidFill>
                <a:schemeClr val="tx1"/>
              </a:solidFill>
            </a:endParaRPr>
          </a:p>
          <a:p>
            <a:pPr marL="285750" lvl="0" indent="-285750">
              <a:buFont typeface="Noto Sans Symbols"/>
              <a:buChar char="⮚"/>
            </a:pPr>
            <a:r>
              <a:rPr lang="en-GB" dirty="0"/>
              <a:t>Our project aims to develop a platform for fund trailing analysis that can detect various forms of illicit financial activities, including money laundering, fraud, terrorist financing, and compliance monitoring. We have developed a model that has been trained on extensive data to enable it to identify patterns and anomalies that may indicate suspicious financial activity. </a:t>
            </a:r>
            <a:endParaRPr lang="en-GB" dirty="0" smtClean="0"/>
          </a:p>
          <a:p>
            <a:pPr marL="285750" lvl="0" indent="-285750">
              <a:buFont typeface="Noto Sans Symbols"/>
              <a:buChar char="⮚"/>
            </a:pPr>
            <a:r>
              <a:rPr lang="en-GB" dirty="0" smtClean="0"/>
              <a:t>1</a:t>
            </a:r>
            <a:r>
              <a:rPr lang="en-GB" dirty="0"/>
              <a:t>. Data collection: To collect financial data, a range of financial records are employed, including bank statements, transaction logs, and other financial records.</a:t>
            </a:r>
          </a:p>
          <a:p>
            <a:pPr marL="285750" lvl="0" indent="-285750">
              <a:buFont typeface="Noto Sans Symbols"/>
              <a:buChar char="⮚"/>
            </a:pPr>
            <a:r>
              <a:rPr lang="en-GB" dirty="0"/>
              <a:t>2. Data organisation: The data is set up such that trends and connections between transactions are easily observable.</a:t>
            </a:r>
          </a:p>
          <a:p>
            <a:pPr marL="285750" lvl="0" indent="-285750">
              <a:buFont typeface="Noto Sans Symbols"/>
              <a:buChar char="⮚"/>
            </a:pPr>
            <a:r>
              <a:rPr lang="en-GB" dirty="0"/>
              <a:t>3. Data analysis: The structured data is investigated using a number of methodologies, including data mining and statistical analysis, to uncover patterns and linkages.</a:t>
            </a:r>
          </a:p>
          <a:p>
            <a:pPr marL="285750" lvl="0" indent="-285750">
              <a:buFont typeface="Noto Sans Symbols"/>
              <a:buChar char="⮚"/>
            </a:pPr>
            <a:r>
              <a:rPr lang="en-GB" dirty="0"/>
              <a:t>4. Pattern recognition: Data analysis reveals trends and connections between transactions that may be used to identify potential fraud or questionable activity.</a:t>
            </a:r>
          </a:p>
          <a:p>
            <a:pPr marL="285750" lvl="0" indent="-285750">
              <a:buFont typeface="Noto Sans Symbols"/>
              <a:buChar char="⮚"/>
            </a:pPr>
            <a:r>
              <a:rPr lang="en-GB" dirty="0"/>
              <a:t>5. Investigation: After suspicious transactions are found, extra investigation is done to find out where the money came from and what kind of transaction it was</a:t>
            </a:r>
            <a:r>
              <a:rPr lang="en-GB" dirty="0" smtClean="0"/>
              <a:t>.</a:t>
            </a:r>
            <a:r>
              <a:rPr lang="en-US" dirty="0" smtClean="0"/>
              <a:t> </a:t>
            </a:r>
            <a:endParaRPr dirty="0"/>
          </a:p>
          <a:p>
            <a:pPr marL="285750" lvl="0" indent="-184150" algn="l" rtl="0">
              <a:lnSpc>
                <a:spcPct val="100000"/>
              </a:lnSpc>
              <a:spcBef>
                <a:spcPts val="1000"/>
              </a:spcBef>
              <a:spcAft>
                <a:spcPts val="0"/>
              </a:spcAft>
              <a:buClr>
                <a:schemeClr val="dk1"/>
              </a:buClr>
              <a:buSzPts val="1600"/>
              <a:buFont typeface="Noto Sans Symbols"/>
              <a:buNone/>
            </a:pPr>
            <a:endParaRPr dirty="0"/>
          </a:p>
        </p:txBody>
      </p:sp>
      <p:sp>
        <p:nvSpPr>
          <p:cNvPr id="219" name="Google Shape;219;p2"/>
          <p:cNvSpPr txBox="1">
            <a:spLocks noGrp="1"/>
          </p:cNvSpPr>
          <p:nvPr>
            <p:ph type="sldNum" idx="12"/>
          </p:nvPr>
        </p:nvSpPr>
        <p:spPr>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t>2</a:t>
            </a:fld>
            <a:endParaRPr/>
          </a:p>
        </p:txBody>
      </p:sp>
      <p:sp>
        <p:nvSpPr>
          <p:cNvPr id="222" name="Google Shape;222;p2"/>
          <p:cNvSpPr txBox="1"/>
          <p:nvPr/>
        </p:nvSpPr>
        <p:spPr>
          <a:xfrm>
            <a:off x="7378575" y="3833752"/>
            <a:ext cx="4689138" cy="2912374"/>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2"/>
              </a:buClr>
              <a:buSzPts val="1800"/>
              <a:buFont typeface="Arial"/>
              <a:buNone/>
            </a:pPr>
            <a:r>
              <a:rPr lang="en-US" sz="1800" b="0" i="0" dirty="0">
                <a:solidFill>
                  <a:schemeClr val="tx1"/>
                </a:solidFill>
                <a:latin typeface="Franklin Gothic"/>
                <a:ea typeface="Franklin Gothic"/>
                <a:cs typeface="Franklin Gothic"/>
                <a:sym typeface="Franklin Gothic"/>
              </a:rPr>
              <a:t>Describe your Technology stack here</a:t>
            </a:r>
            <a:r>
              <a:rPr lang="en-US" sz="1600" b="0" i="0" dirty="0">
                <a:solidFill>
                  <a:schemeClr val="dk1"/>
                </a:solidFill>
                <a:latin typeface="Libre Franklin"/>
                <a:ea typeface="Libre Franklin"/>
                <a:cs typeface="Libre Franklin"/>
                <a:sym typeface="Libre Franklin"/>
              </a:rPr>
              <a:t>:</a:t>
            </a:r>
            <a:endParaRPr dirty="0"/>
          </a:p>
          <a:p>
            <a:pPr marL="285750" lvl="0" indent="-285750">
              <a:spcBef>
                <a:spcPts val="1000"/>
              </a:spcBef>
              <a:buClr>
                <a:schemeClr val="dk1"/>
              </a:buClr>
              <a:buSzPts val="1600"/>
              <a:buFont typeface="Noto Sans Symbols"/>
              <a:buChar char="⮚"/>
            </a:pPr>
            <a:r>
              <a:rPr lang="en-US" sz="1600" b="0" i="0" dirty="0">
                <a:solidFill>
                  <a:schemeClr val="dk1"/>
                </a:solidFill>
                <a:latin typeface="Libre Franklin"/>
                <a:ea typeface="Libre Franklin"/>
                <a:cs typeface="Libre Franklin"/>
                <a:sym typeface="Libre Franklin"/>
              </a:rPr>
              <a:t> </a:t>
            </a:r>
            <a:r>
              <a:rPr lang="en-GB" sz="1600" dirty="0">
                <a:solidFill>
                  <a:schemeClr val="dk1"/>
                </a:solidFill>
                <a:latin typeface="Libre Franklin"/>
                <a:ea typeface="Libre Franklin"/>
                <a:cs typeface="Libre Franklin"/>
                <a:sym typeface="Libre Franklin"/>
              </a:rPr>
              <a:t>Web Development(Developing Platform)</a:t>
            </a:r>
          </a:p>
          <a:p>
            <a:pPr marL="285750" lvl="0" indent="-285750">
              <a:spcBef>
                <a:spcPts val="1000"/>
              </a:spcBef>
              <a:buClr>
                <a:schemeClr val="dk1"/>
              </a:buClr>
              <a:buSzPts val="1600"/>
              <a:buFont typeface="Noto Sans Symbols"/>
              <a:buChar char="⮚"/>
            </a:pPr>
            <a:r>
              <a:rPr lang="en-GB" sz="1600" dirty="0">
                <a:solidFill>
                  <a:schemeClr val="dk1"/>
                </a:solidFill>
                <a:latin typeface="Libre Franklin"/>
                <a:sym typeface="Libre Franklin"/>
              </a:rPr>
              <a:t>App Development(Developing Platform)</a:t>
            </a:r>
          </a:p>
          <a:p>
            <a:pPr marL="285750" lvl="0" indent="-285750">
              <a:spcBef>
                <a:spcPts val="1000"/>
              </a:spcBef>
              <a:buClr>
                <a:schemeClr val="dk1"/>
              </a:buClr>
              <a:buSzPts val="1600"/>
              <a:buFont typeface="Noto Sans Symbols"/>
              <a:buChar char="⮚"/>
            </a:pPr>
            <a:r>
              <a:rPr lang="en-GB" sz="1600" dirty="0">
                <a:solidFill>
                  <a:schemeClr val="dk1"/>
                </a:solidFill>
                <a:latin typeface="Libre Franklin"/>
                <a:sym typeface="Libre Franklin"/>
              </a:rPr>
              <a:t>Block chain Technology(for high level security)</a:t>
            </a:r>
            <a:endParaRPr lang="en-GB" sz="1600" dirty="0"/>
          </a:p>
          <a:p>
            <a:pPr marL="285750" marR="0" lvl="0" indent="-285750" algn="l" rtl="0">
              <a:lnSpc>
                <a:spcPct val="100000"/>
              </a:lnSpc>
              <a:spcBef>
                <a:spcPts val="1000"/>
              </a:spcBef>
              <a:spcAft>
                <a:spcPts val="0"/>
              </a:spcAft>
              <a:buClr>
                <a:schemeClr val="dk1"/>
              </a:buClr>
              <a:buSzPts val="1600"/>
              <a:buFont typeface="Noto Sans Symbols"/>
              <a:buChar char="⮚"/>
            </a:pPr>
            <a:r>
              <a:rPr lang="en-US" sz="1600" b="0" i="0" dirty="0" smtClean="0">
                <a:solidFill>
                  <a:schemeClr val="dk1"/>
                </a:solidFill>
                <a:latin typeface="Libre Franklin"/>
                <a:ea typeface="Libre Franklin"/>
                <a:cs typeface="Libre Franklin"/>
                <a:sym typeface="Libre Franklin"/>
              </a:rPr>
              <a:t>Database management systems: </a:t>
            </a:r>
            <a:r>
              <a:rPr lang="en-US" sz="1600" b="0" i="0" dirty="0" err="1" smtClean="0">
                <a:solidFill>
                  <a:schemeClr val="dk1"/>
                </a:solidFill>
                <a:latin typeface="Libre Franklin"/>
                <a:ea typeface="Libre Franklin"/>
                <a:cs typeface="Libre Franklin"/>
                <a:sym typeface="Libre Franklin"/>
              </a:rPr>
              <a:t>MySQL,oracle</a:t>
            </a:r>
            <a:r>
              <a:rPr lang="en-US" sz="1600" dirty="0" smtClean="0">
                <a:solidFill>
                  <a:schemeClr val="dk1"/>
                </a:solidFill>
                <a:latin typeface="Libre Franklin"/>
                <a:ea typeface="Libre Franklin"/>
                <a:cs typeface="Libre Franklin"/>
                <a:sym typeface="Libre Franklin"/>
              </a:rPr>
              <a:t> &amp; MongoDB</a:t>
            </a:r>
            <a:r>
              <a:rPr lang="en-US" sz="1600" b="0" i="0" dirty="0" smtClean="0">
                <a:solidFill>
                  <a:schemeClr val="dk1"/>
                </a:solidFill>
                <a:latin typeface="Libre Franklin"/>
                <a:ea typeface="Libre Franklin"/>
                <a:cs typeface="Libre Franklin"/>
                <a:sym typeface="Libre Franklin"/>
              </a:rPr>
              <a:t> </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dirty="0" smtClean="0">
                <a:solidFill>
                  <a:schemeClr val="dk1"/>
                </a:solidFill>
                <a:latin typeface="Libre Franklin"/>
                <a:sym typeface="Libre Franklin"/>
              </a:rPr>
              <a:t>Data mining &amp; analytics tools: Python</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dirty="0" smtClean="0">
                <a:solidFill>
                  <a:schemeClr val="dk1"/>
                </a:solidFill>
                <a:latin typeface="Libre Franklin"/>
                <a:sym typeface="Libre Franklin"/>
              </a:rPr>
              <a:t>Visualization tools: Tableau &amp; power BI</a:t>
            </a:r>
            <a:endParaRPr dirty="0"/>
          </a:p>
          <a:p>
            <a:pPr marL="0" marR="0" lvl="0" indent="0" algn="l" rtl="0">
              <a:lnSpc>
                <a:spcPct val="100000"/>
              </a:lnSpc>
              <a:spcBef>
                <a:spcPts val="1000"/>
              </a:spcBef>
              <a:spcAft>
                <a:spcPts val="0"/>
              </a:spcAft>
              <a:buClr>
                <a:schemeClr val="dk1"/>
              </a:buClr>
              <a:buSzPts val="1600"/>
              <a:buFont typeface="Arial"/>
              <a:buNone/>
            </a:pPr>
            <a:endParaRPr sz="1600" b="0" i="0" dirty="0">
              <a:solidFill>
                <a:schemeClr val="dk1"/>
              </a:solidFill>
              <a:latin typeface="Libre Franklin"/>
              <a:ea typeface="Libre Franklin"/>
              <a:cs typeface="Libre Franklin"/>
              <a:sym typeface="Libre Frankli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0" y="0"/>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dirty="0"/>
              <a:t>Idea/Approach Details</a:t>
            </a:r>
            <a:endParaRPr dirty="0"/>
          </a:p>
        </p:txBody>
      </p:sp>
      <p:sp>
        <p:nvSpPr>
          <p:cNvPr id="229" name="Google Shape;229;p3"/>
          <p:cNvSpPr txBox="1">
            <a:spLocks noGrp="1"/>
          </p:cNvSpPr>
          <p:nvPr>
            <p:ph type="body" idx="1"/>
          </p:nvPr>
        </p:nvSpPr>
        <p:spPr>
          <a:xfrm>
            <a:off x="46759" y="983022"/>
            <a:ext cx="5780808" cy="559684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dk1"/>
              </a:buClr>
              <a:buSzPts val="1600"/>
              <a:buFont typeface="Noto Sans Symbols"/>
              <a:buChar char="⮚"/>
            </a:pPr>
            <a:r>
              <a:rPr lang="en-US" dirty="0"/>
              <a:t>  </a:t>
            </a:r>
            <a:endParaRPr dirty="0"/>
          </a:p>
        </p:txBody>
      </p:sp>
      <p:sp>
        <p:nvSpPr>
          <p:cNvPr id="228" name="Google Shape;228;p3"/>
          <p:cNvSpPr txBox="1">
            <a:spLocks noGrp="1"/>
          </p:cNvSpPr>
          <p:nvPr>
            <p:ph type="body" idx="2"/>
          </p:nvPr>
        </p:nvSpPr>
        <p:spPr>
          <a:xfrm>
            <a:off x="0" y="638985"/>
            <a:ext cx="4838700" cy="31591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800"/>
              <a:buNone/>
            </a:pPr>
            <a:r>
              <a:rPr lang="en-US" sz="1800" dirty="0">
                <a:solidFill>
                  <a:schemeClr val="tx1"/>
                </a:solidFill>
              </a:rPr>
              <a:t>Describe your Use Cases </a:t>
            </a:r>
            <a:r>
              <a:rPr lang="en-US" sz="1800" dirty="0" smtClean="0">
                <a:solidFill>
                  <a:schemeClr val="tx1"/>
                </a:solidFill>
              </a:rPr>
              <a:t>here </a:t>
            </a:r>
            <a:endParaRPr dirty="0">
              <a:solidFill>
                <a:schemeClr val="tx1"/>
              </a:solidFill>
            </a:endParaRPr>
          </a:p>
        </p:txBody>
      </p:sp>
      <p:sp>
        <p:nvSpPr>
          <p:cNvPr id="230" name="Google Shape;230;p3"/>
          <p:cNvSpPr txBox="1">
            <a:spLocks noGrp="1"/>
          </p:cNvSpPr>
          <p:nvPr>
            <p:ph type="sldNum" idx="12"/>
          </p:nvPr>
        </p:nvSpPr>
        <p:spPr>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t>3</a:t>
            </a:fld>
            <a:endParaRPr/>
          </a:p>
        </p:txBody>
      </p:sp>
      <p:sp>
        <p:nvSpPr>
          <p:cNvPr id="231" name="Google Shape;231;p3"/>
          <p:cNvSpPr txBox="1"/>
          <p:nvPr/>
        </p:nvSpPr>
        <p:spPr>
          <a:xfrm>
            <a:off x="6248399" y="638985"/>
            <a:ext cx="5143500" cy="315915"/>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lt2"/>
              </a:buClr>
              <a:buSzPts val="1800"/>
              <a:buFont typeface="Arial"/>
              <a:buNone/>
            </a:pPr>
            <a:r>
              <a:rPr lang="en-US" sz="1800" b="0" i="0" dirty="0">
                <a:solidFill>
                  <a:schemeClr val="tx1"/>
                </a:solidFill>
                <a:latin typeface="Franklin Gothic"/>
                <a:ea typeface="Franklin Gothic"/>
                <a:cs typeface="Franklin Gothic"/>
                <a:sym typeface="Franklin Gothic"/>
              </a:rPr>
              <a:t>Describe your Dependencies / Show stopper here</a:t>
            </a:r>
            <a:endParaRPr dirty="0">
              <a:solidFill>
                <a:schemeClr val="tx1"/>
              </a:solidFill>
            </a:endParaRPr>
          </a:p>
        </p:txBody>
      </p:sp>
      <p:sp>
        <p:nvSpPr>
          <p:cNvPr id="232" name="Google Shape;232;p3"/>
          <p:cNvSpPr txBox="1"/>
          <p:nvPr/>
        </p:nvSpPr>
        <p:spPr>
          <a:xfrm>
            <a:off x="5844886" y="983022"/>
            <a:ext cx="6314209" cy="562497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indent="-285750">
              <a:lnSpc>
                <a:spcPct val="90000"/>
              </a:lnSpc>
              <a:buClr>
                <a:schemeClr val="dk1"/>
              </a:buClr>
              <a:buSzPts val="1600"/>
              <a:buFont typeface="Noto Sans Symbols"/>
              <a:buChar char="⮚"/>
            </a:pPr>
            <a:r>
              <a:rPr lang="en-US" sz="1600" dirty="0">
                <a:solidFill>
                  <a:schemeClr val="dk1"/>
                </a:solidFill>
                <a:latin typeface="Libre Franklin"/>
                <a:ea typeface="Libre Franklin"/>
                <a:cs typeface="Libre Franklin"/>
                <a:sym typeface="Libre Franklin"/>
              </a:rPr>
              <a:t>D</a:t>
            </a:r>
            <a:r>
              <a:rPr lang="en-US" sz="1600" b="0" i="0" dirty="0" smtClean="0">
                <a:solidFill>
                  <a:schemeClr val="dk1"/>
                </a:solidFill>
                <a:latin typeface="Libre Franklin"/>
                <a:ea typeface="Libre Franklin"/>
                <a:cs typeface="Libre Franklin"/>
                <a:sym typeface="Libre Franklin"/>
              </a:rPr>
              <a:t>ata </a:t>
            </a:r>
            <a:r>
              <a:rPr lang="en-GB" sz="1600" dirty="0" smtClean="0">
                <a:latin typeface="Söhne"/>
                <a:ea typeface="Libre Franklin"/>
              </a:rPr>
              <a:t> availability</a:t>
            </a:r>
            <a:endParaRPr lang="en-GB" sz="1600" dirty="0">
              <a:latin typeface="Söhne"/>
            </a:endParaRPr>
          </a:p>
          <a:p>
            <a:pPr marL="285750" marR="0" lvl="0" indent="-285750" algn="l" rtl="0">
              <a:lnSpc>
                <a:spcPct val="90000"/>
              </a:lnSpc>
              <a:spcBef>
                <a:spcPts val="0"/>
              </a:spcBef>
              <a:spcAft>
                <a:spcPts val="0"/>
              </a:spcAft>
              <a:buClr>
                <a:schemeClr val="dk1"/>
              </a:buClr>
              <a:buSzPts val="1600"/>
              <a:buFont typeface="Noto Sans Symbols"/>
              <a:buChar char="⮚"/>
            </a:pPr>
            <a:r>
              <a:rPr lang="en-US" sz="1600" dirty="0" smtClean="0">
                <a:solidFill>
                  <a:schemeClr val="dk1"/>
                </a:solidFill>
                <a:latin typeface="Libre Franklin"/>
                <a:ea typeface="Libre Franklin"/>
                <a:cs typeface="Libre Franklin"/>
                <a:sym typeface="Libre Franklin"/>
              </a:rPr>
              <a:t>D</a:t>
            </a:r>
            <a:r>
              <a:rPr lang="en-US" sz="1600" b="0" i="0" dirty="0" smtClean="0">
                <a:solidFill>
                  <a:schemeClr val="dk1"/>
                </a:solidFill>
                <a:latin typeface="Libre Franklin"/>
                <a:ea typeface="Libre Franklin"/>
                <a:cs typeface="Libre Franklin"/>
                <a:sym typeface="Libre Franklin"/>
              </a:rPr>
              <a:t>ata quality</a:t>
            </a:r>
          </a:p>
          <a:p>
            <a:pPr marL="285750" marR="0" lvl="0" indent="-285750" algn="l" rtl="0">
              <a:lnSpc>
                <a:spcPct val="90000"/>
              </a:lnSpc>
              <a:spcBef>
                <a:spcPts val="0"/>
              </a:spcBef>
              <a:spcAft>
                <a:spcPts val="0"/>
              </a:spcAft>
              <a:buClr>
                <a:schemeClr val="dk1"/>
              </a:buClr>
              <a:buSzPts val="1600"/>
              <a:buFont typeface="Noto Sans Symbols"/>
              <a:buChar char="⮚"/>
            </a:pPr>
            <a:r>
              <a:rPr lang="en-US" sz="1600" dirty="0" smtClean="0">
                <a:solidFill>
                  <a:schemeClr val="dk1"/>
                </a:solidFill>
                <a:latin typeface="Libre Franklin"/>
                <a:sym typeface="Libre Franklin"/>
              </a:rPr>
              <a:t>Data processing</a:t>
            </a:r>
          </a:p>
          <a:p>
            <a:pPr marL="285750" marR="0" lvl="0" indent="-285750" algn="l" rtl="0">
              <a:lnSpc>
                <a:spcPct val="90000"/>
              </a:lnSpc>
              <a:spcBef>
                <a:spcPts val="0"/>
              </a:spcBef>
              <a:spcAft>
                <a:spcPts val="0"/>
              </a:spcAft>
              <a:buClr>
                <a:schemeClr val="dk1"/>
              </a:buClr>
              <a:buSzPts val="1600"/>
              <a:buFont typeface="Noto Sans Symbols"/>
              <a:buChar char="⮚"/>
            </a:pPr>
            <a:r>
              <a:rPr lang="en-US" sz="1600" dirty="0" smtClean="0">
                <a:solidFill>
                  <a:schemeClr val="dk1"/>
                </a:solidFill>
                <a:latin typeface="Libre Franklin"/>
                <a:sym typeface="Libre Franklin"/>
              </a:rPr>
              <a:t>Data storage</a:t>
            </a:r>
          </a:p>
          <a:p>
            <a:pPr marL="285750" marR="0" lvl="0" indent="-285750" algn="l" rtl="0">
              <a:lnSpc>
                <a:spcPct val="90000"/>
              </a:lnSpc>
              <a:spcBef>
                <a:spcPts val="0"/>
              </a:spcBef>
              <a:spcAft>
                <a:spcPts val="0"/>
              </a:spcAft>
              <a:buClr>
                <a:schemeClr val="dk1"/>
              </a:buClr>
              <a:buSzPts val="1600"/>
              <a:buFont typeface="Noto Sans Symbols"/>
              <a:buChar char="⮚"/>
            </a:pPr>
            <a:r>
              <a:rPr lang="en-US" sz="1600" dirty="0" smtClean="0">
                <a:solidFill>
                  <a:schemeClr val="dk1"/>
                </a:solidFill>
                <a:latin typeface="Libre Franklin"/>
                <a:sym typeface="Libre Franklin"/>
              </a:rPr>
              <a:t>Compliance regulations</a:t>
            </a:r>
          </a:p>
          <a:p>
            <a:pPr marL="285750" marR="0" lvl="0" indent="-285750" algn="l" rtl="0">
              <a:lnSpc>
                <a:spcPct val="90000"/>
              </a:lnSpc>
              <a:spcBef>
                <a:spcPts val="0"/>
              </a:spcBef>
              <a:spcAft>
                <a:spcPts val="0"/>
              </a:spcAft>
              <a:buClr>
                <a:schemeClr val="dk1"/>
              </a:buClr>
              <a:buSzPts val="1600"/>
              <a:buFont typeface="Noto Sans Symbols"/>
              <a:buChar char="⮚"/>
            </a:pPr>
            <a:r>
              <a:rPr lang="en-US" sz="1600" dirty="0" smtClean="0">
                <a:solidFill>
                  <a:schemeClr val="dk1"/>
                </a:solidFill>
                <a:latin typeface="Libre Franklin"/>
                <a:sym typeface="Libre Franklin"/>
              </a:rPr>
              <a:t>Expertise</a:t>
            </a:r>
          </a:p>
          <a:p>
            <a:pPr marL="285750" marR="0" lvl="0" indent="-285750" algn="l" rtl="0">
              <a:lnSpc>
                <a:spcPct val="90000"/>
              </a:lnSpc>
              <a:spcBef>
                <a:spcPts val="0"/>
              </a:spcBef>
              <a:spcAft>
                <a:spcPts val="0"/>
              </a:spcAft>
              <a:buClr>
                <a:schemeClr val="dk1"/>
              </a:buClr>
              <a:buSzPts val="1600"/>
              <a:buFont typeface="Noto Sans Symbols"/>
              <a:buChar char="⮚"/>
            </a:pPr>
            <a:r>
              <a:rPr lang="en-US" sz="1600" dirty="0" smtClean="0">
                <a:solidFill>
                  <a:schemeClr val="dk1"/>
                </a:solidFill>
                <a:latin typeface="Libre Franklin"/>
                <a:sym typeface="Libre Franklin"/>
              </a:rPr>
              <a:t>Collaboration</a:t>
            </a:r>
          </a:p>
          <a:p>
            <a:pPr marL="285750" indent="-285750">
              <a:lnSpc>
                <a:spcPct val="90000"/>
              </a:lnSpc>
              <a:buClr>
                <a:schemeClr val="dk1"/>
              </a:buClr>
              <a:buSzPts val="1600"/>
              <a:buFont typeface="Noto Sans Symbols"/>
              <a:buChar char="⮚"/>
            </a:pPr>
            <a:r>
              <a:rPr lang="en-US" sz="1600" dirty="0" smtClean="0">
                <a:solidFill>
                  <a:schemeClr val="dk1"/>
                </a:solidFill>
                <a:latin typeface="Libre Franklin"/>
                <a:sym typeface="Libre Franklin"/>
              </a:rPr>
              <a:t>Show stopper : </a:t>
            </a:r>
            <a:r>
              <a:rPr lang="en-GB" sz="1600" dirty="0">
                <a:latin typeface="Libre Franklin" panose="020B0604020202020204" charset="0"/>
              </a:rPr>
              <a:t>our model doesn’t only investigate and seize the malicious detected bank account though it even detects the corresponding resembling accounts and furthermore freeze them till other processions</a:t>
            </a:r>
            <a:r>
              <a:rPr lang="en-GB" sz="1600" dirty="0" smtClean="0">
                <a:latin typeface="Libre Franklin" panose="020B0604020202020204" charset="0"/>
              </a:rPr>
              <a:t>.</a:t>
            </a:r>
            <a:endParaRPr lang="en-GB" sz="1600" dirty="0">
              <a:latin typeface="Libre Franklin" panose="020B0604020202020204" charset="0"/>
            </a:endParaRPr>
          </a:p>
          <a:p>
            <a:pPr>
              <a:lnSpc>
                <a:spcPct val="90000"/>
              </a:lnSpc>
              <a:buClr>
                <a:schemeClr val="dk1"/>
              </a:buClr>
              <a:buSzPts val="1600"/>
            </a:pPr>
            <a:endParaRPr lang="en-GB" sz="1600" dirty="0">
              <a:latin typeface="Libre Franklin" panose="020B0604020202020204" charset="0"/>
            </a:endParaRPr>
          </a:p>
          <a:p>
            <a:pPr marL="285750" indent="-285750">
              <a:lnSpc>
                <a:spcPct val="90000"/>
              </a:lnSpc>
              <a:buClr>
                <a:schemeClr val="dk1"/>
              </a:buClr>
              <a:buSzPts val="1600"/>
              <a:buFont typeface="Noto Sans Symbols"/>
              <a:buChar char="⮚"/>
            </a:pPr>
            <a:r>
              <a:rPr lang="en-GB" sz="1600" dirty="0" smtClean="0">
                <a:latin typeface="Libre Franklin" panose="020B0604020202020204" charset="0"/>
              </a:rPr>
              <a:t>BUSSINESS POTENTIAL : It can be implemented with central  banking system or national economy controlling system to majorly </a:t>
            </a:r>
            <a:r>
              <a:rPr lang="en-GB" sz="1600" dirty="0" err="1" smtClean="0">
                <a:latin typeface="Libre Franklin" panose="020B0604020202020204" charset="0"/>
              </a:rPr>
              <a:t>overdeal</a:t>
            </a:r>
            <a:r>
              <a:rPr lang="en-GB" sz="1600" dirty="0" smtClean="0">
                <a:latin typeface="Libre Franklin" panose="020B0604020202020204" charset="0"/>
              </a:rPr>
              <a:t> with corruption and can abrupt the fund trail to greater extent. Moreover, further it can be scaled to work with high potential security </a:t>
            </a:r>
            <a:r>
              <a:rPr lang="en-GB" sz="1600" smtClean="0">
                <a:latin typeface="Libre Franklin" panose="020B0604020202020204" charset="0"/>
              </a:rPr>
              <a:t>and block chain</a:t>
            </a:r>
            <a:r>
              <a:rPr lang="en-GB" sz="1600" dirty="0" smtClean="0">
                <a:latin typeface="Libre Franklin" panose="020B0604020202020204" charset="0"/>
              </a:rPr>
              <a:t>. </a:t>
            </a:r>
          </a:p>
          <a:p>
            <a:pPr>
              <a:lnSpc>
                <a:spcPct val="90000"/>
              </a:lnSpc>
              <a:buClr>
                <a:schemeClr val="dk1"/>
              </a:buClr>
              <a:buSzPts val="1600"/>
            </a:pPr>
            <a:endParaRPr lang="en-GB" sz="1600" dirty="0" smtClean="0">
              <a:latin typeface="Libre Franklin" panose="020B0604020202020204" charset="0"/>
            </a:endParaRPr>
          </a:p>
          <a:p>
            <a:pPr algn="just">
              <a:lnSpc>
                <a:spcPct val="90000"/>
              </a:lnSpc>
              <a:buClr>
                <a:schemeClr val="dk1"/>
              </a:buClr>
              <a:buSzPts val="1600"/>
            </a:pPr>
            <a:r>
              <a:rPr lang="en-GB" sz="1600" dirty="0">
                <a:latin typeface="Libre Franklin" panose="020B0604020202020204" charset="0"/>
              </a:rPr>
              <a:t> </a:t>
            </a:r>
            <a:r>
              <a:rPr lang="en-GB" sz="1600" dirty="0" smtClean="0">
                <a:latin typeface="Libre Franklin" panose="020B0604020202020204" charset="0"/>
              </a:rPr>
              <a:t>       </a:t>
            </a:r>
            <a:r>
              <a:rPr lang="en-GB" sz="1600" dirty="0">
                <a:latin typeface="Libre Franklin" panose="020B0604020202020204" charset="0"/>
              </a:rPr>
              <a:t>By providing this platform, we hope to help financial institutions and regulatory bodies to better track and identify these illicit activities, reducing the risk of financial crime and enhancing compliance. Our approach could also help to improve the overall transparency and integrity of financial systems, contributing to a more secure and stable economic environment.</a:t>
            </a:r>
            <a:endParaRPr lang="en-GB" sz="1600" dirty="0">
              <a:latin typeface="Libre Franklin" panose="020B0604020202020204" charset="0"/>
            </a:endParaRPr>
          </a:p>
          <a:p>
            <a:pPr marL="285750" marR="0" lvl="0" indent="-285750" algn="l" rtl="0">
              <a:lnSpc>
                <a:spcPct val="90000"/>
              </a:lnSpc>
              <a:spcBef>
                <a:spcPts val="0"/>
              </a:spcBef>
              <a:spcAft>
                <a:spcPts val="0"/>
              </a:spcAft>
              <a:buClr>
                <a:schemeClr val="dk1"/>
              </a:buClr>
              <a:buSzPts val="1600"/>
              <a:buFont typeface="Noto Sans Symbols"/>
              <a:buChar char="⮚"/>
            </a:pPr>
            <a:endParaRPr lang="en-US" sz="1600" dirty="0" smtClean="0">
              <a:solidFill>
                <a:schemeClr val="dk1"/>
              </a:solidFill>
              <a:latin typeface="Libre Franklin"/>
              <a:sym typeface="Libre Franklin"/>
            </a:endParaRPr>
          </a:p>
          <a:p>
            <a:pPr marL="285750" marR="0" lvl="0" indent="-285750" algn="l" rtl="0">
              <a:lnSpc>
                <a:spcPct val="90000"/>
              </a:lnSpc>
              <a:spcBef>
                <a:spcPts val="0"/>
              </a:spcBef>
              <a:spcAft>
                <a:spcPts val="0"/>
              </a:spcAft>
              <a:buClr>
                <a:schemeClr val="dk1"/>
              </a:buClr>
              <a:buSzPts val="1600"/>
              <a:buFont typeface="Noto Sans Symbols"/>
              <a:buChar char="⮚"/>
            </a:pPr>
            <a:endParaRPr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360339"/>
            <a:ext cx="5780809" cy="489341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
          <p:cNvSpPr txBox="1">
            <a:spLocks noGrp="1"/>
          </p:cNvSpPr>
          <p:nvPr>
            <p:ph type="title"/>
          </p:nvPr>
        </p:nvSpPr>
        <p:spPr>
          <a:xfrm>
            <a:off x="0" y="0"/>
            <a:ext cx="6617507"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ts val="4400"/>
              <a:buFont typeface="Franklin Gothic"/>
              <a:buNone/>
            </a:pPr>
            <a:r>
              <a:rPr lang="en-US" dirty="0"/>
              <a:t>Team Member Details </a:t>
            </a:r>
            <a:endParaRPr dirty="0"/>
          </a:p>
        </p:txBody>
      </p:sp>
      <p:graphicFrame>
        <p:nvGraphicFramePr>
          <p:cNvPr id="2" name="Table 1"/>
          <p:cNvGraphicFramePr>
            <a:graphicFrameLocks noGrp="1"/>
          </p:cNvGraphicFramePr>
          <p:nvPr>
            <p:extLst>
              <p:ext uri="{D42A27DB-BD31-4B8C-83A1-F6EECF244321}">
                <p14:modId xmlns:p14="http://schemas.microsoft.com/office/powerpoint/2010/main" val="2277541265"/>
              </p:ext>
            </p:extLst>
          </p:nvPr>
        </p:nvGraphicFramePr>
        <p:xfrm>
          <a:off x="221908" y="527803"/>
          <a:ext cx="11568312" cy="4218283"/>
        </p:xfrm>
        <a:graphic>
          <a:graphicData uri="http://schemas.openxmlformats.org/drawingml/2006/table">
            <a:tbl>
              <a:tblPr firstRow="1" bandRow="1">
                <a:tableStyleId>{5C22544A-7EE6-4342-B048-85BDC9FD1C3A}</a:tableStyleId>
              </a:tblPr>
              <a:tblGrid>
                <a:gridCol w="909653">
                  <a:extLst>
                    <a:ext uri="{9D8B030D-6E8A-4147-A177-3AD203B41FA5}">
                      <a16:colId xmlns:a16="http://schemas.microsoft.com/office/drawing/2014/main" val="2824836338"/>
                    </a:ext>
                  </a:extLst>
                </a:gridCol>
                <a:gridCol w="2946451">
                  <a:extLst>
                    <a:ext uri="{9D8B030D-6E8A-4147-A177-3AD203B41FA5}">
                      <a16:colId xmlns:a16="http://schemas.microsoft.com/office/drawing/2014/main" val="648567316"/>
                    </a:ext>
                  </a:extLst>
                </a:gridCol>
                <a:gridCol w="1928052">
                  <a:extLst>
                    <a:ext uri="{9D8B030D-6E8A-4147-A177-3AD203B41FA5}">
                      <a16:colId xmlns:a16="http://schemas.microsoft.com/office/drawing/2014/main" val="414414887"/>
                    </a:ext>
                  </a:extLst>
                </a:gridCol>
                <a:gridCol w="1928052">
                  <a:extLst>
                    <a:ext uri="{9D8B030D-6E8A-4147-A177-3AD203B41FA5}">
                      <a16:colId xmlns:a16="http://schemas.microsoft.com/office/drawing/2014/main" val="3526582794"/>
                    </a:ext>
                  </a:extLst>
                </a:gridCol>
                <a:gridCol w="1928052">
                  <a:extLst>
                    <a:ext uri="{9D8B030D-6E8A-4147-A177-3AD203B41FA5}">
                      <a16:colId xmlns:a16="http://schemas.microsoft.com/office/drawing/2014/main" val="79086586"/>
                    </a:ext>
                  </a:extLst>
                </a:gridCol>
                <a:gridCol w="1928052">
                  <a:extLst>
                    <a:ext uri="{9D8B030D-6E8A-4147-A177-3AD203B41FA5}">
                      <a16:colId xmlns:a16="http://schemas.microsoft.com/office/drawing/2014/main" val="3249055975"/>
                    </a:ext>
                  </a:extLst>
                </a:gridCol>
              </a:tblGrid>
              <a:tr h="1128031">
                <a:tc>
                  <a:txBody>
                    <a:bodyPr/>
                    <a:lstStyle/>
                    <a:p>
                      <a:r>
                        <a:rPr lang="en-US" dirty="0" smtClean="0"/>
                        <a:t>Sr. No.</a:t>
                      </a:r>
                      <a:endParaRPr lang="en-US" dirty="0"/>
                    </a:p>
                  </a:txBody>
                  <a:tcPr/>
                </a:tc>
                <a:tc>
                  <a:txBody>
                    <a:bodyPr/>
                    <a:lstStyle/>
                    <a:p>
                      <a:r>
                        <a:rPr lang="en-US" dirty="0" smtClean="0"/>
                        <a:t>Name of Team Member</a:t>
                      </a:r>
                      <a:r>
                        <a:rPr lang="en-US" baseline="0" dirty="0" smtClean="0"/>
                        <a:t> </a:t>
                      </a:r>
                      <a:endParaRPr lang="en-US" dirty="0"/>
                    </a:p>
                  </a:txBody>
                  <a:tcPr/>
                </a:tc>
                <a:tc>
                  <a:txBody>
                    <a:bodyPr/>
                    <a:lstStyle/>
                    <a:p>
                      <a:r>
                        <a:rPr lang="en-US" dirty="0" smtClean="0"/>
                        <a:t>Branch</a:t>
                      </a:r>
                      <a:r>
                        <a:rPr lang="en-US" baseline="0" dirty="0" smtClean="0"/>
                        <a:t> </a:t>
                      </a:r>
                      <a:r>
                        <a:rPr lang="en-US" sz="1800" dirty="0" smtClean="0"/>
                        <a:t>(</a:t>
                      </a:r>
                      <a:r>
                        <a:rPr lang="en-US" sz="1800" dirty="0" err="1" smtClean="0"/>
                        <a:t>Btech</a:t>
                      </a:r>
                      <a:r>
                        <a:rPr lang="en-US" sz="1800" dirty="0" smtClean="0"/>
                        <a:t>/</a:t>
                      </a:r>
                      <a:r>
                        <a:rPr lang="en-US" sz="1800" dirty="0" err="1" smtClean="0"/>
                        <a:t>Mtech</a:t>
                      </a:r>
                      <a:r>
                        <a:rPr lang="en-US" sz="1800" dirty="0" smtClean="0"/>
                        <a:t>/PhD </a:t>
                      </a:r>
                      <a:r>
                        <a:rPr lang="en-US" sz="1800" dirty="0" err="1" smtClean="0"/>
                        <a:t>etc</a:t>
                      </a:r>
                      <a:r>
                        <a:rPr lang="en-US" sz="1800" dirty="0" smtClean="0"/>
                        <a:t>):</a:t>
                      </a:r>
                      <a:endParaRPr lang="en-US" dirty="0"/>
                    </a:p>
                  </a:txBody>
                  <a:tcPr/>
                </a:tc>
                <a:tc>
                  <a:txBody>
                    <a:bodyPr/>
                    <a:lstStyle/>
                    <a:p>
                      <a:r>
                        <a:rPr lang="en-US" sz="1800" dirty="0" smtClean="0"/>
                        <a:t>Stream (ECE, CSE </a:t>
                      </a:r>
                      <a:r>
                        <a:rPr lang="en-US" sz="1800" dirty="0" err="1" smtClean="0"/>
                        <a:t>etc</a:t>
                      </a:r>
                      <a:r>
                        <a:rPr lang="en-US" sz="1800" dirty="0" smtClean="0"/>
                        <a: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Year</a:t>
                      </a:r>
                    </a:p>
                    <a:p>
                      <a:endParaRPr lang="en-US" dirty="0" smtClean="0"/>
                    </a:p>
                    <a:p>
                      <a:endParaRPr lang="en-US" dirty="0"/>
                    </a:p>
                  </a:txBody>
                  <a:tcPr/>
                </a:tc>
                <a:tc>
                  <a:txBody>
                    <a:bodyPr/>
                    <a:lstStyle/>
                    <a:p>
                      <a:r>
                        <a:rPr lang="en-US" dirty="0" smtClean="0"/>
                        <a:t>Position</a:t>
                      </a:r>
                      <a:r>
                        <a:rPr lang="en-US" baseline="0" dirty="0" smtClean="0"/>
                        <a:t> in team </a:t>
                      </a:r>
                      <a:r>
                        <a:rPr lang="en-US" sz="1200" baseline="0" dirty="0" smtClean="0"/>
                        <a:t>(Team Leader, Front end Developer, Back end Developer, Full Stack, Data base management etc.)</a:t>
                      </a:r>
                      <a:endParaRPr lang="en-US" sz="1200" dirty="0"/>
                    </a:p>
                  </a:txBody>
                  <a:tcPr/>
                </a:tc>
                <a:extLst>
                  <a:ext uri="{0D108BD9-81ED-4DB2-BD59-A6C34878D82A}">
                    <a16:rowId xmlns:a16="http://schemas.microsoft.com/office/drawing/2014/main" val="2093876814"/>
                  </a:ext>
                </a:extLst>
              </a:tr>
              <a:tr h="374576">
                <a:tc>
                  <a:txBody>
                    <a:bodyPr/>
                    <a:lstStyle/>
                    <a:p>
                      <a:r>
                        <a:rPr lang="en-US" dirty="0" smtClean="0"/>
                        <a:t>1</a:t>
                      </a:r>
                      <a:endParaRPr lang="en-US" dirty="0"/>
                    </a:p>
                  </a:txBody>
                  <a:tcPr/>
                </a:tc>
                <a:tc>
                  <a:txBody>
                    <a:bodyPr/>
                    <a:lstStyle/>
                    <a:p>
                      <a:r>
                        <a:rPr lang="en-US" dirty="0" smtClean="0"/>
                        <a:t>NIDHI SINHA</a:t>
                      </a:r>
                      <a:endParaRPr lang="en-US" dirty="0"/>
                    </a:p>
                  </a:txBody>
                  <a:tcPr/>
                </a:tc>
                <a:tc>
                  <a:txBody>
                    <a:bodyPr/>
                    <a:lstStyle/>
                    <a:p>
                      <a:r>
                        <a:rPr lang="en-US" sz="1800" dirty="0" err="1" smtClean="0"/>
                        <a:t>B.Tech</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AI&amp;ML</a:t>
                      </a:r>
                      <a:endParaRPr lang="en-US" dirty="0"/>
                    </a:p>
                  </a:txBody>
                  <a:tcPr/>
                </a:tc>
                <a:tc>
                  <a:txBody>
                    <a:bodyPr/>
                    <a:lstStyle/>
                    <a:p>
                      <a:r>
                        <a:rPr lang="en-US" dirty="0" smtClean="0"/>
                        <a:t>3</a:t>
                      </a:r>
                      <a:endParaRPr lang="en-US" dirty="0" smtClean="0"/>
                    </a:p>
                  </a:txBody>
                  <a:tcPr/>
                </a:tc>
                <a:tc>
                  <a:txBody>
                    <a:bodyPr/>
                    <a:lstStyle/>
                    <a:p>
                      <a:r>
                        <a:rPr lang="en-US" dirty="0" smtClean="0"/>
                        <a:t>Team Leader</a:t>
                      </a:r>
                      <a:r>
                        <a:rPr lang="en-US" baseline="0" dirty="0" smtClean="0"/>
                        <a:t> </a:t>
                      </a:r>
                      <a:endParaRPr lang="en-US" dirty="0"/>
                    </a:p>
                  </a:txBody>
                  <a:tcPr/>
                </a:tc>
                <a:extLst>
                  <a:ext uri="{0D108BD9-81ED-4DB2-BD59-A6C34878D82A}">
                    <a16:rowId xmlns:a16="http://schemas.microsoft.com/office/drawing/2014/main" val="205475727"/>
                  </a:ext>
                </a:extLst>
              </a:tr>
              <a:tr h="655508">
                <a:tc>
                  <a:txBody>
                    <a:bodyPr/>
                    <a:lstStyle/>
                    <a:p>
                      <a:r>
                        <a:rPr lang="en-US" dirty="0" smtClean="0"/>
                        <a:t>2</a:t>
                      </a:r>
                      <a:endParaRPr lang="en-US" dirty="0"/>
                    </a:p>
                  </a:txBody>
                  <a:tcPr/>
                </a:tc>
                <a:tc>
                  <a:txBody>
                    <a:bodyPr/>
                    <a:lstStyle/>
                    <a:p>
                      <a:r>
                        <a:rPr lang="en-US" dirty="0" smtClean="0"/>
                        <a:t>SHREYA DAMODAR</a:t>
                      </a:r>
                      <a:endParaRPr lang="en-US" dirty="0"/>
                    </a:p>
                  </a:txBody>
                  <a:tcPr/>
                </a:tc>
                <a:tc>
                  <a:txBody>
                    <a:bodyPr/>
                    <a:lstStyle/>
                    <a:p>
                      <a:r>
                        <a:rPr lang="en-US" sz="1800" dirty="0" err="1" smtClean="0"/>
                        <a:t>B.Tech</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AI&amp;ML</a:t>
                      </a:r>
                      <a:endParaRPr lang="en-US" dirty="0"/>
                    </a:p>
                  </a:txBody>
                  <a:tcPr/>
                </a:tc>
                <a:tc>
                  <a:txBody>
                    <a:bodyPr/>
                    <a:lstStyle/>
                    <a:p>
                      <a:r>
                        <a:rPr lang="en-US" dirty="0" smtClean="0"/>
                        <a:t>3</a:t>
                      </a:r>
                      <a:endParaRPr lang="en-US" dirty="0"/>
                    </a:p>
                  </a:txBody>
                  <a:tcPr/>
                </a:tc>
                <a:tc>
                  <a:txBody>
                    <a:bodyPr/>
                    <a:lstStyle/>
                    <a:p>
                      <a:r>
                        <a:rPr lang="en-US" dirty="0" smtClean="0"/>
                        <a:t>Database</a:t>
                      </a:r>
                    </a:p>
                    <a:p>
                      <a:r>
                        <a:rPr lang="en-US" dirty="0" smtClean="0"/>
                        <a:t>management</a:t>
                      </a:r>
                      <a:endParaRPr lang="en-US" dirty="0"/>
                    </a:p>
                  </a:txBody>
                  <a:tcPr/>
                </a:tc>
                <a:extLst>
                  <a:ext uri="{0D108BD9-81ED-4DB2-BD59-A6C34878D82A}">
                    <a16:rowId xmlns:a16="http://schemas.microsoft.com/office/drawing/2014/main" val="2431725522"/>
                  </a:ext>
                </a:extLst>
              </a:tr>
              <a:tr h="655508">
                <a:tc>
                  <a:txBody>
                    <a:bodyPr/>
                    <a:lstStyle/>
                    <a:p>
                      <a:r>
                        <a:rPr lang="en-US" dirty="0" smtClean="0"/>
                        <a:t>3</a:t>
                      </a:r>
                      <a:endParaRPr lang="en-US" dirty="0"/>
                    </a:p>
                  </a:txBody>
                  <a:tcPr/>
                </a:tc>
                <a:tc>
                  <a:txBody>
                    <a:bodyPr/>
                    <a:lstStyle/>
                    <a:p>
                      <a:r>
                        <a:rPr lang="en-IN" sz="1800" kern="1200" dirty="0" smtClean="0">
                          <a:solidFill>
                            <a:schemeClr val="dk1"/>
                          </a:solidFill>
                          <a:effectLst/>
                          <a:latin typeface="+mn-lt"/>
                          <a:ea typeface="+mn-ea"/>
                          <a:cs typeface="+mn-cs"/>
                        </a:rPr>
                        <a:t>ESHAN KUSHWAH </a:t>
                      </a:r>
                      <a:endParaRPr lang="en-US" dirty="0"/>
                    </a:p>
                  </a:txBody>
                  <a:tcPr/>
                </a:tc>
                <a:tc>
                  <a:txBody>
                    <a:bodyPr/>
                    <a:lstStyle/>
                    <a:p>
                      <a:r>
                        <a:rPr lang="en-US" sz="1800" dirty="0" err="1" smtClean="0"/>
                        <a:t>B.Tech</a:t>
                      </a:r>
                      <a:endParaRPr lang="en-US" dirty="0"/>
                    </a:p>
                  </a:txBody>
                  <a:tcPr/>
                </a:tc>
                <a:tc>
                  <a:txBody>
                    <a:bodyPr/>
                    <a:lstStyle/>
                    <a:p>
                      <a:r>
                        <a:rPr lang="en-US" dirty="0" smtClean="0"/>
                        <a:t>CSE</a:t>
                      </a:r>
                      <a:endParaRPr lang="en-US" dirty="0"/>
                    </a:p>
                  </a:txBody>
                  <a:tcPr/>
                </a:tc>
                <a:tc>
                  <a:txBody>
                    <a:bodyPr/>
                    <a:lstStyle/>
                    <a:p>
                      <a:r>
                        <a:rPr lang="en-US" dirty="0" smtClean="0"/>
                        <a:t>3</a:t>
                      </a:r>
                      <a:endParaRPr lang="en-US" dirty="0"/>
                    </a:p>
                  </a:txBody>
                  <a:tcPr/>
                </a:tc>
                <a:tc>
                  <a:txBody>
                    <a:bodyPr/>
                    <a:lstStyle/>
                    <a:p>
                      <a:r>
                        <a:rPr lang="en-US" sz="1800" baseline="0" dirty="0" smtClean="0"/>
                        <a:t>Back end Developer</a:t>
                      </a:r>
                      <a:endParaRPr lang="en-US" dirty="0"/>
                    </a:p>
                  </a:txBody>
                  <a:tcPr/>
                </a:tc>
                <a:extLst>
                  <a:ext uri="{0D108BD9-81ED-4DB2-BD59-A6C34878D82A}">
                    <a16:rowId xmlns:a16="http://schemas.microsoft.com/office/drawing/2014/main" val="1999168005"/>
                  </a:ext>
                </a:extLst>
              </a:tr>
              <a:tr h="374576">
                <a:tc>
                  <a:txBody>
                    <a:bodyPr/>
                    <a:lstStyle/>
                    <a:p>
                      <a:r>
                        <a:rPr lang="en-US" dirty="0" smtClean="0"/>
                        <a:t>4</a:t>
                      </a:r>
                      <a:endParaRPr lang="en-US" dirty="0"/>
                    </a:p>
                  </a:txBody>
                  <a:tcPr/>
                </a:tc>
                <a:tc>
                  <a:txBody>
                    <a:bodyPr/>
                    <a:lstStyle/>
                    <a:p>
                      <a:r>
                        <a:rPr lang="en-IN" sz="1800" kern="1200" dirty="0" smtClean="0">
                          <a:solidFill>
                            <a:schemeClr val="dk1"/>
                          </a:solidFill>
                          <a:effectLst/>
                          <a:latin typeface="+mn-lt"/>
                          <a:ea typeface="+mn-ea"/>
                          <a:cs typeface="+mn-cs"/>
                        </a:rPr>
                        <a:t>HARSH KUMAR TIWARY</a:t>
                      </a:r>
                      <a:endParaRPr lang="en-US" dirty="0"/>
                    </a:p>
                  </a:txBody>
                  <a:tcPr/>
                </a:tc>
                <a:tc>
                  <a:txBody>
                    <a:bodyPr/>
                    <a:lstStyle/>
                    <a:p>
                      <a:r>
                        <a:rPr lang="en-US" sz="1800" dirty="0" err="1" smtClean="0"/>
                        <a:t>B.Tech</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AI&amp;ML</a:t>
                      </a:r>
                    </a:p>
                  </a:txBody>
                  <a:tcPr/>
                </a:tc>
                <a:tc>
                  <a:txBody>
                    <a:bodyPr/>
                    <a:lstStyle/>
                    <a:p>
                      <a:r>
                        <a:rPr lang="en-US" dirty="0" smtClean="0"/>
                        <a:t>3</a:t>
                      </a:r>
                      <a:endParaRPr lang="en-US" dirty="0"/>
                    </a:p>
                  </a:txBody>
                  <a:tcPr/>
                </a:tc>
                <a:tc>
                  <a:txBody>
                    <a:bodyPr/>
                    <a:lstStyle/>
                    <a:p>
                      <a:r>
                        <a:rPr lang="en-US" sz="1800" baseline="0" dirty="0" smtClean="0"/>
                        <a:t>Full Stack</a:t>
                      </a:r>
                      <a:endParaRPr lang="en-US" dirty="0"/>
                    </a:p>
                  </a:txBody>
                  <a:tcPr/>
                </a:tc>
                <a:extLst>
                  <a:ext uri="{0D108BD9-81ED-4DB2-BD59-A6C34878D82A}">
                    <a16:rowId xmlns:a16="http://schemas.microsoft.com/office/drawing/2014/main" val="429007208"/>
                  </a:ext>
                </a:extLst>
              </a:tr>
              <a:tr h="655508">
                <a:tc>
                  <a:txBody>
                    <a:bodyPr/>
                    <a:lstStyle/>
                    <a:p>
                      <a:r>
                        <a:rPr lang="en-US" dirty="0" smtClean="0"/>
                        <a:t>5</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effectLst/>
                          <a:latin typeface="+mn-lt"/>
                          <a:ea typeface="+mn-ea"/>
                          <a:cs typeface="+mn-cs"/>
                        </a:rPr>
                        <a:t>SPARSH BISEN </a:t>
                      </a:r>
                      <a:endParaRPr lang="en-US" dirty="0" smtClean="0"/>
                    </a:p>
                  </a:txBody>
                  <a:tcPr/>
                </a:tc>
                <a:tc>
                  <a:txBody>
                    <a:bodyPr/>
                    <a:lstStyle/>
                    <a:p>
                      <a:r>
                        <a:rPr lang="en-US" sz="1800" dirty="0" err="1" smtClean="0"/>
                        <a:t>B.Tech</a:t>
                      </a:r>
                      <a:endParaRPr lang="en-US" dirty="0"/>
                    </a:p>
                  </a:txBody>
                  <a:tcPr/>
                </a:tc>
                <a:tc>
                  <a:txBody>
                    <a:bodyPr/>
                    <a:lstStyle/>
                    <a:p>
                      <a:r>
                        <a:rPr lang="en-US" dirty="0" smtClean="0"/>
                        <a:t>CSE</a:t>
                      </a:r>
                      <a:endParaRPr lang="en-US" dirty="0"/>
                    </a:p>
                  </a:txBody>
                  <a:tcPr/>
                </a:tc>
                <a:tc>
                  <a:txBody>
                    <a:bodyPr/>
                    <a:lstStyle/>
                    <a:p>
                      <a:r>
                        <a:rPr lang="en-US" dirty="0" smtClean="0"/>
                        <a:t>2</a:t>
                      </a:r>
                      <a:endParaRPr lang="en-US" dirty="0"/>
                    </a:p>
                  </a:txBody>
                  <a:tcPr/>
                </a:tc>
                <a:tc>
                  <a:txBody>
                    <a:bodyPr/>
                    <a:lstStyle/>
                    <a:p>
                      <a:r>
                        <a:rPr lang="en-US" sz="1800" baseline="0" dirty="0" smtClean="0"/>
                        <a:t>Front end Developer</a:t>
                      </a:r>
                      <a:endParaRPr lang="en-US" dirty="0"/>
                    </a:p>
                  </a:txBody>
                  <a:tcPr/>
                </a:tc>
                <a:extLst>
                  <a:ext uri="{0D108BD9-81ED-4DB2-BD59-A6C34878D82A}">
                    <a16:rowId xmlns:a16="http://schemas.microsoft.com/office/drawing/2014/main" val="1653030234"/>
                  </a:ext>
                </a:extLst>
              </a:tr>
              <a:tr h="374576">
                <a:tc>
                  <a:txBody>
                    <a:bodyPr/>
                    <a:lstStyle/>
                    <a:p>
                      <a:r>
                        <a:rPr lang="en-US" dirty="0" smtClean="0"/>
                        <a:t>6</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smtClean="0">
                          <a:solidFill>
                            <a:schemeClr val="dk1"/>
                          </a:solidFill>
                          <a:effectLst/>
                          <a:latin typeface="+mn-lt"/>
                          <a:ea typeface="+mn-ea"/>
                          <a:cs typeface="+mn-cs"/>
                        </a:rPr>
                        <a:t>DYLAN Z FERNANDES</a:t>
                      </a:r>
                      <a:endParaRPr 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smtClean="0"/>
                        <a:t>B.Tech</a:t>
                      </a:r>
                      <a:endParaRPr lang="en-US"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AI&amp;ML</a:t>
                      </a:r>
                      <a:endParaRPr lang="en-US" dirty="0"/>
                    </a:p>
                  </a:txBody>
                  <a:tcPr/>
                </a:tc>
                <a:tc>
                  <a:txBody>
                    <a:bodyPr/>
                    <a:lstStyle/>
                    <a:p>
                      <a:r>
                        <a:rPr lang="en-US" dirty="0" smtClean="0"/>
                        <a:t>2</a:t>
                      </a:r>
                      <a:endParaRPr lang="en-US" dirty="0"/>
                    </a:p>
                  </a:txBody>
                  <a:tcPr/>
                </a:tc>
                <a:tc>
                  <a:txBody>
                    <a:bodyPr/>
                    <a:lstStyle/>
                    <a:p>
                      <a:r>
                        <a:rPr lang="en-US" sz="1800" baseline="0" dirty="0" smtClean="0"/>
                        <a:t>Full Stack</a:t>
                      </a:r>
                      <a:endParaRPr lang="en-US" dirty="0"/>
                    </a:p>
                  </a:txBody>
                  <a:tcPr/>
                </a:tc>
                <a:extLst>
                  <a:ext uri="{0D108BD9-81ED-4DB2-BD59-A6C34878D82A}">
                    <a16:rowId xmlns:a16="http://schemas.microsoft.com/office/drawing/2014/main" val="204192424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707913485"/>
              </p:ext>
            </p:extLst>
          </p:nvPr>
        </p:nvGraphicFramePr>
        <p:xfrm>
          <a:off x="221908" y="5356947"/>
          <a:ext cx="11687594" cy="1381760"/>
        </p:xfrm>
        <a:graphic>
          <a:graphicData uri="http://schemas.openxmlformats.org/drawingml/2006/table">
            <a:tbl>
              <a:tblPr firstRow="1" bandRow="1">
                <a:tableStyleId>{5C22544A-7EE6-4342-B048-85BDC9FD1C3A}</a:tableStyleId>
              </a:tblPr>
              <a:tblGrid>
                <a:gridCol w="1102838">
                  <a:extLst>
                    <a:ext uri="{9D8B030D-6E8A-4147-A177-3AD203B41FA5}">
                      <a16:colId xmlns:a16="http://schemas.microsoft.com/office/drawing/2014/main" val="2824836338"/>
                    </a:ext>
                  </a:extLst>
                </a:gridCol>
                <a:gridCol w="3572199">
                  <a:extLst>
                    <a:ext uri="{9D8B030D-6E8A-4147-A177-3AD203B41FA5}">
                      <a16:colId xmlns:a16="http://schemas.microsoft.com/office/drawing/2014/main" val="648567316"/>
                    </a:ext>
                  </a:extLst>
                </a:gridCol>
                <a:gridCol w="2337519">
                  <a:extLst>
                    <a:ext uri="{9D8B030D-6E8A-4147-A177-3AD203B41FA5}">
                      <a16:colId xmlns:a16="http://schemas.microsoft.com/office/drawing/2014/main" val="414414887"/>
                    </a:ext>
                  </a:extLst>
                </a:gridCol>
                <a:gridCol w="2337519">
                  <a:extLst>
                    <a:ext uri="{9D8B030D-6E8A-4147-A177-3AD203B41FA5}">
                      <a16:colId xmlns:a16="http://schemas.microsoft.com/office/drawing/2014/main" val="3526582794"/>
                    </a:ext>
                  </a:extLst>
                </a:gridCol>
                <a:gridCol w="2337519">
                  <a:extLst>
                    <a:ext uri="{9D8B030D-6E8A-4147-A177-3AD203B41FA5}">
                      <a16:colId xmlns:a16="http://schemas.microsoft.com/office/drawing/2014/main" val="79086586"/>
                    </a:ext>
                  </a:extLst>
                </a:gridCol>
              </a:tblGrid>
              <a:tr h="370840">
                <a:tc>
                  <a:txBody>
                    <a:bodyPr/>
                    <a:lstStyle/>
                    <a:p>
                      <a:r>
                        <a:rPr lang="en-US" dirty="0" smtClean="0"/>
                        <a:t>Sr. No.</a:t>
                      </a:r>
                      <a:endParaRPr lang="en-US" dirty="0"/>
                    </a:p>
                  </a:txBody>
                  <a:tcPr/>
                </a:tc>
                <a:tc>
                  <a:txBody>
                    <a:bodyPr/>
                    <a:lstStyle/>
                    <a:p>
                      <a:r>
                        <a:rPr lang="en-US" dirty="0" smtClean="0"/>
                        <a:t>Name of Mentor </a:t>
                      </a:r>
                      <a:endParaRPr lang="en-US" dirty="0"/>
                    </a:p>
                  </a:txBody>
                  <a:tcPr/>
                </a:tc>
                <a:tc>
                  <a:txBody>
                    <a:bodyPr/>
                    <a:lstStyle/>
                    <a:p>
                      <a:r>
                        <a:rPr lang="en-US" sz="1800" dirty="0" smtClean="0"/>
                        <a:t>Category </a:t>
                      </a:r>
                      <a:r>
                        <a:rPr lang="en-US" sz="1600" dirty="0" smtClean="0"/>
                        <a:t>(Academic/Industry): </a:t>
                      </a:r>
                      <a:endParaRPr lang="en-US" sz="1600" dirty="0"/>
                    </a:p>
                  </a:txBody>
                  <a:tcPr/>
                </a:tc>
                <a:tc>
                  <a:txBody>
                    <a:bodyPr/>
                    <a:lstStyle/>
                    <a:p>
                      <a:r>
                        <a:rPr lang="en-US" sz="1800" dirty="0" smtClean="0"/>
                        <a:t>Expertise </a:t>
                      </a:r>
                      <a:r>
                        <a:rPr lang="en-US" sz="1400" dirty="0" smtClean="0"/>
                        <a:t>(AI/ML/</a:t>
                      </a:r>
                      <a:r>
                        <a:rPr lang="en-US" sz="1400" dirty="0" err="1" smtClean="0"/>
                        <a:t>Blockchain</a:t>
                      </a:r>
                      <a:r>
                        <a:rPr lang="en-US" sz="1400" dirty="0" smtClean="0"/>
                        <a:t> </a:t>
                      </a:r>
                      <a:r>
                        <a:rPr lang="en-US" sz="1400" dirty="0" err="1" smtClean="0"/>
                        <a:t>etc</a:t>
                      </a:r>
                      <a:r>
                        <a:rPr lang="en-US" sz="1400" dirty="0" smtClean="0"/>
                        <a:t>):</a:t>
                      </a:r>
                      <a:r>
                        <a:rPr lang="en-US" sz="1800" dirty="0" smtClean="0"/>
                        <a:t> </a:t>
                      </a:r>
                      <a:endParaRPr lang="en-US" dirty="0"/>
                    </a:p>
                  </a:txBody>
                  <a:tcPr/>
                </a:tc>
                <a:tc>
                  <a:txBody>
                    <a:bodyPr/>
                    <a:lstStyle/>
                    <a:p>
                      <a:r>
                        <a:rPr lang="en-US" sz="1800" dirty="0" smtClean="0"/>
                        <a:t>Domain Experience  </a:t>
                      </a:r>
                      <a:r>
                        <a:rPr lang="en-US" sz="1600" dirty="0" smtClean="0"/>
                        <a:t>(in Years )</a:t>
                      </a:r>
                      <a:endParaRPr lang="en-US" sz="1600" dirty="0"/>
                    </a:p>
                  </a:txBody>
                  <a:tcPr/>
                </a:tc>
                <a:extLst>
                  <a:ext uri="{0D108BD9-81ED-4DB2-BD59-A6C34878D82A}">
                    <a16:rowId xmlns:a16="http://schemas.microsoft.com/office/drawing/2014/main" val="2093876814"/>
                  </a:ext>
                </a:extLst>
              </a:tr>
              <a:tr h="370840">
                <a:tc>
                  <a:txBody>
                    <a:bodyPr/>
                    <a:lstStyle/>
                    <a:p>
                      <a:r>
                        <a:rPr lang="en-US" dirty="0" smtClean="0"/>
                        <a:t>1</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DR. ANASUYA NJ</a:t>
                      </a:r>
                      <a:endParaRPr lang="en-US" dirty="0" smtClean="0"/>
                    </a:p>
                  </a:txBody>
                  <a:tcPr/>
                </a:tc>
                <a:tc>
                  <a:txBody>
                    <a:bodyPr/>
                    <a:lstStyle/>
                    <a:p>
                      <a:r>
                        <a:rPr lang="en-US" dirty="0" smtClean="0"/>
                        <a:t>Academic</a:t>
                      </a:r>
                      <a:endParaRPr lang="en-US" dirty="0"/>
                    </a:p>
                  </a:txBody>
                  <a:tcPr/>
                </a:tc>
                <a:tc>
                  <a:txBody>
                    <a:bodyPr/>
                    <a:lstStyle/>
                    <a:p>
                      <a:r>
                        <a:rPr lang="en-US" sz="1800" dirty="0" smtClean="0"/>
                        <a:t>AI&amp;ML/BLOCK</a:t>
                      </a:r>
                      <a:r>
                        <a:rPr lang="en-US" sz="1800" baseline="0" dirty="0" smtClean="0"/>
                        <a:t> CHAIN </a:t>
                      </a:r>
                      <a:endParaRPr lang="en-US" dirty="0"/>
                    </a:p>
                  </a:txBody>
                  <a:tcPr/>
                </a:tc>
                <a:tc>
                  <a:txBody>
                    <a:bodyPr/>
                    <a:lstStyle/>
                    <a:p>
                      <a:r>
                        <a:rPr lang="en-US" dirty="0" smtClean="0"/>
                        <a:t>15</a:t>
                      </a:r>
                      <a:endParaRPr lang="en-US" dirty="0" smtClean="0"/>
                    </a:p>
                  </a:txBody>
                  <a:tcPr/>
                </a:tc>
                <a:extLst>
                  <a:ext uri="{0D108BD9-81ED-4DB2-BD59-A6C34878D82A}">
                    <a16:rowId xmlns:a16="http://schemas.microsoft.com/office/drawing/2014/main" val="205475727"/>
                  </a:ext>
                </a:extLst>
              </a:tr>
              <a:tr h="370840">
                <a:tc>
                  <a:txBody>
                    <a:bodyPr/>
                    <a:lstStyle/>
                    <a:p>
                      <a:r>
                        <a:rPr lang="en-US" dirty="0" smtClean="0"/>
                        <a:t>2</a:t>
                      </a:r>
                      <a:endParaRPr lang="en-US" dirty="0"/>
                    </a:p>
                  </a:txBody>
                  <a:tcPr/>
                </a:tc>
                <a:tc>
                  <a:txBody>
                    <a:bodyPr/>
                    <a:lstStyle/>
                    <a:p>
                      <a:r>
                        <a:rPr lang="en-US" sz="1800" dirty="0" smtClean="0"/>
                        <a:t>DR. MANU K S</a:t>
                      </a:r>
                      <a:endParaRPr lang="en-US" sz="1800" dirty="0"/>
                    </a:p>
                  </a:txBody>
                  <a:tcPr/>
                </a:tc>
                <a:tc>
                  <a:txBody>
                    <a:bodyPr/>
                    <a:lstStyle/>
                    <a:p>
                      <a:r>
                        <a:rPr lang="en-US" dirty="0" smtClean="0"/>
                        <a:t>Academic</a:t>
                      </a:r>
                      <a:endParaRPr lang="en-US" dirty="0"/>
                    </a:p>
                  </a:txBody>
                  <a:tcPr/>
                </a:tc>
                <a:tc>
                  <a:txBody>
                    <a:bodyPr/>
                    <a:lstStyle/>
                    <a:p>
                      <a:r>
                        <a:rPr lang="en-US" sz="1800" dirty="0" smtClean="0"/>
                        <a:t>AI&amp;ML/BLOCK</a:t>
                      </a:r>
                      <a:r>
                        <a:rPr lang="en-US" sz="1800" baseline="0" dirty="0" smtClean="0"/>
                        <a:t> CHAIN </a:t>
                      </a:r>
                      <a:endParaRPr lang="en-US" dirty="0"/>
                    </a:p>
                  </a:txBody>
                  <a:tcPr/>
                </a:tc>
                <a:tc>
                  <a:txBody>
                    <a:bodyPr/>
                    <a:lstStyle/>
                    <a:p>
                      <a:r>
                        <a:rPr lang="en-US" dirty="0" smtClean="0"/>
                        <a:t>11</a:t>
                      </a:r>
                      <a:endParaRPr lang="en-US" dirty="0"/>
                    </a:p>
                  </a:txBody>
                  <a:tcPr/>
                </a:tc>
                <a:extLst>
                  <a:ext uri="{0D108BD9-81ED-4DB2-BD59-A6C34878D82A}">
                    <a16:rowId xmlns:a16="http://schemas.microsoft.com/office/drawing/2014/main" val="2431725522"/>
                  </a:ext>
                </a:extLst>
              </a:tr>
            </a:tbl>
          </a:graphicData>
        </a:graphic>
      </p:graphicFrame>
      <p:sp>
        <p:nvSpPr>
          <p:cNvPr id="7" name="Google Shape;237;p4"/>
          <p:cNvSpPr txBox="1">
            <a:spLocks/>
          </p:cNvSpPr>
          <p:nvPr/>
        </p:nvSpPr>
        <p:spPr>
          <a:xfrm>
            <a:off x="221908" y="4746084"/>
            <a:ext cx="6617507" cy="610863"/>
          </a:xfrm>
          <a:prstGeom prst="rect">
            <a:avLst/>
          </a:prstGeom>
          <a:noFill/>
          <a:ln>
            <a:noFill/>
          </a:ln>
        </p:spPr>
        <p:txBody>
          <a:bodyPr spcFirstLastPara="1" vert="horz" wrap="square" lIns="0" tIns="0" rIns="0" bIns="0" rtlCol="0" anchor="b" anchorCtr="0">
            <a:normAutofit/>
          </a:bodyPr>
          <a:lstStyle>
            <a:lvl1pPr lvl="0" algn="l" defTabSz="914400" rtl="0" eaLnBrk="1" latinLnBrk="0" hangingPunct="1">
              <a:lnSpc>
                <a:spcPct val="90000"/>
              </a:lnSpc>
              <a:spcBef>
                <a:spcPts val="0"/>
              </a:spcBef>
              <a:spcAft>
                <a:spcPts val="0"/>
              </a:spcAft>
              <a:buClr>
                <a:schemeClr val="dk1"/>
              </a:buClr>
              <a:buSzPts val="4400"/>
              <a:buFont typeface="Franklin Gothic"/>
              <a:buNone/>
              <a:defRPr sz="4400" b="1" i="0" kern="1200">
                <a:solidFill>
                  <a:schemeClr val="tx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smtClean="0"/>
              <a:t>Team Mentor/s Details </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428</TotalTime>
  <Words>569</Words>
  <Application>Microsoft Office PowerPoint</Application>
  <PresentationFormat>Widescreen</PresentationFormat>
  <Paragraphs>100</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Franklin Gothic</vt:lpstr>
      <vt:lpstr>Calibri Light</vt:lpstr>
      <vt:lpstr>Arial</vt:lpstr>
      <vt:lpstr>Libre Franklin</vt:lpstr>
      <vt:lpstr>Calibri</vt:lpstr>
      <vt:lpstr>Söhne</vt:lpstr>
      <vt:lpstr>Noto Sans Symbols</vt:lpstr>
      <vt:lpstr>Office Theme</vt:lpstr>
      <vt:lpstr>Basic Details of the Team and Problem Statement</vt:lpstr>
      <vt:lpstr>Idea/Approach Details</vt:lpstr>
      <vt:lpstr>Idea/Approach Details</vt:lpstr>
      <vt:lpstr>Team Member Details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Details of the Team and Problem Statement</dc:title>
  <dc:creator>Sarim Moin</dc:creator>
  <cp:lastModifiedBy>MAHAKAAL</cp:lastModifiedBy>
  <cp:revision>15</cp:revision>
  <dcterms:created xsi:type="dcterms:W3CDTF">2022-02-11T07:14:46Z</dcterms:created>
  <dcterms:modified xsi:type="dcterms:W3CDTF">2023-04-29T22:50:32Z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